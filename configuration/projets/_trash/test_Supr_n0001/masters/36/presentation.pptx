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842" r:id="rId2"/>
    <p:sldId id="956" r:id="rId3"/>
    <p:sldId id="953" r:id="rId4"/>
    <p:sldId id="954" r:id="rId5"/>
    <p:sldId id="767" r:id="rId6"/>
    <p:sldId id="955" r:id="rId7"/>
    <p:sldId id="910" r:id="rId8"/>
    <p:sldId id="7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BA1"/>
    <a:srgbClr val="E01E76"/>
    <a:srgbClr val="FFFFFF"/>
    <a:srgbClr val="D9D9D9"/>
    <a:srgbClr val="4FD1CE"/>
    <a:srgbClr val="D2F3F2"/>
    <a:srgbClr val="000000"/>
    <a:srgbClr val="E4E7F8"/>
    <a:srgbClr val="576CD4"/>
    <a:srgbClr val="E77E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98" autoAdjust="0"/>
    <p:restoredTop sz="96081" autoAdjust="0"/>
  </p:normalViewPr>
  <p:slideViewPr>
    <p:cSldViewPr snapToGrid="0">
      <p:cViewPr>
        <p:scale>
          <a:sx n="66" d="100"/>
          <a:sy n="66" d="100"/>
        </p:scale>
        <p:origin x="1098" y="864"/>
      </p:cViewPr>
      <p:guideLst>
        <p:guide orient="horz" pos="2160"/>
        <p:guide pos="3840"/>
      </p:guideLst>
    </p:cSldViewPr>
  </p:slideViewPr>
  <p:notesTextViewPr>
    <p:cViewPr>
      <p:scale>
        <a:sx n="75" d="100"/>
        <a:sy n="7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osch\Bureau\KAIVAA\kaivaa-builder\configuration\templates\Analyse%20du%20march&#233;%20FMCG\1.0\master.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511343858661984E-2"/>
          <c:y val="3.6103280968572377E-2"/>
          <c:w val="0.94842190219433975"/>
          <c:h val="0.83659285472480371"/>
        </c:manualLayout>
      </c:layout>
      <c:barChart>
        <c:barDir val="col"/>
        <c:grouping val="stacked"/>
        <c:varyColors val="0"/>
        <c:ser>
          <c:idx val="0"/>
          <c:order val="0"/>
          <c:tx>
            <c:strRef>
              <c:f>Sheet2!$E$8</c:f>
              <c:strCache>
                <c:ptCount val="1"/>
                <c:pt idx="0">
                  <c:v>Total</c:v>
                </c:pt>
              </c:strCache>
            </c:strRef>
          </c:tx>
          <c:spPr>
            <a:solidFill>
              <a:schemeClr val="tx1">
                <a:lumMod val="75000"/>
                <a:lumOff val="25000"/>
              </a:schemeClr>
            </a:solidFill>
            <a:ln>
              <a:noFill/>
            </a:ln>
            <a:effectLst/>
          </c:spPr>
          <c:invertIfNegative val="0"/>
          <c:cat>
            <c:strRef>
              <c:f>Sheet2!$C$9:$C$14</c:f>
              <c:strCache>
                <c:ptCount val="6"/>
                <c:pt idx="0">
                  <c:v>CA 
année N-1</c:v>
                </c:pt>
                <c:pt idx="1">
                  <c:v>Effet 
Distribution</c:v>
                </c:pt>
                <c:pt idx="2">
                  <c:v>Effet 
Volume</c:v>
                </c:pt>
                <c:pt idx="3">
                  <c:v>Effet 
prix</c:v>
                </c:pt>
                <c:pt idx="4">
                  <c:v>Effet 
mix</c:v>
                </c:pt>
                <c:pt idx="5">
                  <c:v>CA 
année N</c:v>
                </c:pt>
              </c:strCache>
            </c:strRef>
          </c:cat>
          <c:val>
            <c:numRef>
              <c:f>Sheet2!$E$9:$E$14</c:f>
              <c:numCache>
                <c:formatCode>General</c:formatCode>
                <c:ptCount val="6"/>
                <c:pt idx="0" formatCode="#\ ##0.0\ \ &quot;M€&quot;;;">
                  <c:v>448506689.99999994</c:v>
                </c:pt>
                <c:pt idx="5" formatCode="#\ ##0.0\ \ &quot;M€&quot;;;">
                  <c:v>400036438</c:v>
                </c:pt>
              </c:numCache>
            </c:numRef>
          </c:val>
          <c:extLst>
            <c:ext xmlns:c16="http://schemas.microsoft.com/office/drawing/2014/chart" uri="{C3380CC4-5D6E-409C-BE32-E72D297353CC}">
              <c16:uniqueId val="{00000000-5879-455B-BD17-FD1C664D593C}"/>
            </c:ext>
          </c:extLst>
        </c:ser>
        <c:ser>
          <c:idx val="1"/>
          <c:order val="1"/>
          <c:tx>
            <c:strRef>
              <c:f>Sheet2!$F$8</c:f>
              <c:strCache>
                <c:ptCount val="1"/>
                <c:pt idx="0">
                  <c:v>Blank</c:v>
                </c:pt>
              </c:strCache>
            </c:strRef>
          </c:tx>
          <c:spPr>
            <a:noFill/>
            <a:ln>
              <a:noFill/>
            </a:ln>
            <a:effectLst/>
          </c:spPr>
          <c:invertIfNegative val="0"/>
          <c:cat>
            <c:strRef>
              <c:f>Sheet2!$C$9:$C$14</c:f>
              <c:strCache>
                <c:ptCount val="6"/>
                <c:pt idx="0">
                  <c:v>CA 
année N-1</c:v>
                </c:pt>
                <c:pt idx="1">
                  <c:v>Effet 
Distribution</c:v>
                </c:pt>
                <c:pt idx="2">
                  <c:v>Effet 
Volume</c:v>
                </c:pt>
                <c:pt idx="3">
                  <c:v>Effet 
prix</c:v>
                </c:pt>
                <c:pt idx="4">
                  <c:v>Effet 
mix</c:v>
                </c:pt>
                <c:pt idx="5">
                  <c:v>CA 
année N</c:v>
                </c:pt>
              </c:strCache>
            </c:strRef>
          </c:cat>
          <c:val>
            <c:numRef>
              <c:f>Sheet2!$F$9:$F$14</c:f>
              <c:numCache>
                <c:formatCode>#\ ##0.0\ \ "M€";;</c:formatCode>
                <c:ptCount val="6"/>
                <c:pt idx="1">
                  <c:v>416770617.64120764</c:v>
                </c:pt>
                <c:pt idx="2">
                  <c:v>374284554.9832052</c:v>
                </c:pt>
                <c:pt idx="3">
                  <c:v>374284554.9832052</c:v>
                </c:pt>
                <c:pt idx="4">
                  <c:v>397122406.78939366</c:v>
                </c:pt>
              </c:numCache>
            </c:numRef>
          </c:val>
          <c:extLst>
            <c:ext xmlns:c16="http://schemas.microsoft.com/office/drawing/2014/chart" uri="{C3380CC4-5D6E-409C-BE32-E72D297353CC}">
              <c16:uniqueId val="{00000001-5879-455B-BD17-FD1C664D593C}"/>
            </c:ext>
          </c:extLst>
        </c:ser>
        <c:ser>
          <c:idx val="2"/>
          <c:order val="2"/>
          <c:tx>
            <c:strRef>
              <c:f>Sheet2!$G$8</c:f>
              <c:strCache>
                <c:ptCount val="1"/>
                <c:pt idx="0">
                  <c:v>Positive</c:v>
                </c:pt>
              </c:strCache>
            </c:strRef>
          </c:tx>
          <c:spPr>
            <a:solidFill>
              <a:schemeClr val="accent4"/>
            </a:solidFill>
            <a:ln>
              <a:noFill/>
            </a:ln>
            <a:effectLst/>
          </c:spPr>
          <c:invertIfNegative val="0"/>
          <c:cat>
            <c:strRef>
              <c:f>Sheet2!$C$9:$C$14</c:f>
              <c:strCache>
                <c:ptCount val="6"/>
                <c:pt idx="0">
                  <c:v>CA 
année N-1</c:v>
                </c:pt>
                <c:pt idx="1">
                  <c:v>Effet 
Distribution</c:v>
                </c:pt>
                <c:pt idx="2">
                  <c:v>Effet 
Volume</c:v>
                </c:pt>
                <c:pt idx="3">
                  <c:v>Effet 
prix</c:v>
                </c:pt>
                <c:pt idx="4">
                  <c:v>Effet 
mix</c:v>
                </c:pt>
                <c:pt idx="5">
                  <c:v>CA 
année N</c:v>
                </c:pt>
              </c:strCache>
            </c:strRef>
          </c:cat>
          <c:val>
            <c:numRef>
              <c:f>Sheet2!$G$9:$G$14</c:f>
              <c:numCache>
                <c:formatCode>\+#\ ##0.0\ \ "M€";\-#\ ##0.0\ \ "M€";\-</c:formatCode>
                <c:ptCount val="6"/>
                <c:pt idx="1">
                  <c:v>0</c:v>
                </c:pt>
                <c:pt idx="2">
                  <c:v>0</c:v>
                </c:pt>
                <c:pt idx="3">
                  <c:v>22837851.806188464</c:v>
                </c:pt>
                <c:pt idx="4">
                  <c:v>2914031.2106063366</c:v>
                </c:pt>
              </c:numCache>
            </c:numRef>
          </c:val>
          <c:extLst>
            <c:ext xmlns:c16="http://schemas.microsoft.com/office/drawing/2014/chart" uri="{C3380CC4-5D6E-409C-BE32-E72D297353CC}">
              <c16:uniqueId val="{00000002-5879-455B-BD17-FD1C664D593C}"/>
            </c:ext>
          </c:extLst>
        </c:ser>
        <c:ser>
          <c:idx val="3"/>
          <c:order val="3"/>
          <c:tx>
            <c:strRef>
              <c:f>Sheet2!$H$8</c:f>
              <c:strCache>
                <c:ptCount val="1"/>
                <c:pt idx="0">
                  <c:v>Negative</c:v>
                </c:pt>
              </c:strCache>
            </c:strRef>
          </c:tx>
          <c:spPr>
            <a:solidFill>
              <a:schemeClr val="accent1">
                <a:lumMod val="60000"/>
                <a:lumOff val="40000"/>
              </a:schemeClr>
            </a:solidFill>
            <a:ln>
              <a:noFill/>
            </a:ln>
            <a:effectLst/>
          </c:spPr>
          <c:invertIfNegative val="0"/>
          <c:cat>
            <c:strRef>
              <c:f>Sheet2!$C$9:$C$14</c:f>
              <c:strCache>
                <c:ptCount val="6"/>
                <c:pt idx="0">
                  <c:v>CA 
année N-1</c:v>
                </c:pt>
                <c:pt idx="1">
                  <c:v>Effet 
Distribution</c:v>
                </c:pt>
                <c:pt idx="2">
                  <c:v>Effet 
Volume</c:v>
                </c:pt>
                <c:pt idx="3">
                  <c:v>Effet 
prix</c:v>
                </c:pt>
                <c:pt idx="4">
                  <c:v>Effet 
mix</c:v>
                </c:pt>
                <c:pt idx="5">
                  <c:v>CA 
année N</c:v>
                </c:pt>
              </c:strCache>
            </c:strRef>
          </c:cat>
          <c:val>
            <c:numRef>
              <c:f>Sheet2!$H$9:$H$14</c:f>
              <c:numCache>
                <c:formatCode>\-#\ ##0.0\ \ "M€";\-#\ ##0.0\ \ "M€";\-</c:formatCode>
                <c:ptCount val="6"/>
                <c:pt idx="1">
                  <c:v>31736072.358792305</c:v>
                </c:pt>
                <c:pt idx="2">
                  <c:v>42486062.658002436</c:v>
                </c:pt>
                <c:pt idx="3">
                  <c:v>0</c:v>
                </c:pt>
                <c:pt idx="4">
                  <c:v>0</c:v>
                </c:pt>
              </c:numCache>
            </c:numRef>
          </c:val>
          <c:extLst>
            <c:ext xmlns:c16="http://schemas.microsoft.com/office/drawing/2014/chart" uri="{C3380CC4-5D6E-409C-BE32-E72D297353CC}">
              <c16:uniqueId val="{00000003-5879-455B-BD17-FD1C664D593C}"/>
            </c:ext>
          </c:extLst>
        </c:ser>
        <c:ser>
          <c:idx val="4"/>
          <c:order val="4"/>
          <c:tx>
            <c:strRef>
              <c:f>Sheet2!$I$8</c:f>
              <c:strCache>
                <c:ptCount val="1"/>
                <c:pt idx="0">
                  <c:v>Test</c:v>
                </c:pt>
              </c:strCache>
            </c:strRef>
          </c:tx>
          <c:spPr>
            <a:solidFill>
              <a:schemeClr val="accent5"/>
            </a:solidFill>
            <a:ln>
              <a:noFill/>
            </a:ln>
            <a:effectLst/>
          </c:spPr>
          <c:invertIfNegative val="0"/>
          <c:dLbls>
            <c:dLbl>
              <c:idx val="0"/>
              <c:tx>
                <c:rich>
                  <a:bodyPr rot="0" spcFirstLastPara="1" vertOverflow="ellipsis" vert="horz" wrap="square" anchor="ctr" anchorCtr="1"/>
                  <a:lstStyle/>
                  <a:p>
                    <a:pPr>
                      <a:defRPr sz="1200" b="0" i="0" u="none" strike="noStrike" kern="1200" baseline="0">
                        <a:solidFill>
                          <a:schemeClr val="tx1">
                            <a:lumMod val="75000"/>
                            <a:lumOff val="25000"/>
                          </a:schemeClr>
                        </a:solidFill>
                        <a:latin typeface="Aptos Black" panose="020B0004020202020204" pitchFamily="34" charset="0"/>
                        <a:ea typeface="+mn-ea"/>
                        <a:cs typeface="+mn-cs"/>
                      </a:defRPr>
                    </a:pPr>
                    <a:fld id="{C783371D-C5B5-4F49-A1F0-65F45621A39D}" type="CELLRANGE">
                      <a:rPr lang="en-US">
                        <a:solidFill>
                          <a:schemeClr val="tx1">
                            <a:lumMod val="75000"/>
                            <a:lumOff val="25000"/>
                          </a:schemeClr>
                        </a:solidFill>
                      </a:rPr>
                      <a:pPr>
                        <a:defRPr>
                          <a:solidFill>
                            <a:schemeClr val="tx1">
                              <a:lumMod val="75000"/>
                              <a:lumOff val="25000"/>
                            </a:schemeClr>
                          </a:solidFill>
                          <a:latin typeface="Aptos Black" panose="020B0004020202020204" pitchFamily="34" charset="0"/>
                        </a:defRPr>
                      </a:pPr>
                      <a:t>[CELLRANGE]</a:t>
                    </a:fld>
                    <a:endParaRPr lang="fr-FR"/>
                  </a:p>
                </c:rich>
              </c:tx>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ptos Black" panose="020B0004020202020204" pitchFamily="34" charset="0"/>
                      <a:ea typeface="+mn-ea"/>
                      <a:cs typeface="+mn-cs"/>
                    </a:defRPr>
                  </a:pPr>
                  <a:endParaRPr lang="fr-FR"/>
                </a:p>
              </c:txPr>
              <c:dLblPos val="inBase"/>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5879-455B-BD17-FD1C664D593C}"/>
                </c:ext>
              </c:extLst>
            </c:dLbl>
            <c:dLbl>
              <c:idx val="1"/>
              <c:tx>
                <c:rich>
                  <a:bodyPr/>
                  <a:lstStyle/>
                  <a:p>
                    <a:fld id="{87254DC4-D510-4922-BB27-BB674BE3145D}" type="CELLRANGE">
                      <a:rPr lang="fr-FR"/>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5879-455B-BD17-FD1C664D593C}"/>
                </c:ext>
              </c:extLst>
            </c:dLbl>
            <c:dLbl>
              <c:idx val="2"/>
              <c:tx>
                <c:rich>
                  <a:bodyPr/>
                  <a:lstStyle/>
                  <a:p>
                    <a:fld id="{D2F43269-87E0-4F77-A539-403DB5F3AD1B}" type="CELLRANGE">
                      <a:rPr lang="fr-FR"/>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5879-455B-BD17-FD1C664D593C}"/>
                </c:ext>
              </c:extLst>
            </c:dLbl>
            <c:dLbl>
              <c:idx val="3"/>
              <c:tx>
                <c:rich>
                  <a:bodyPr/>
                  <a:lstStyle/>
                  <a:p>
                    <a:fld id="{B450F725-3856-4426-AE0F-9C7FEC53218F}" type="CELLRANGE">
                      <a:rPr lang="fr-FR"/>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5879-455B-BD17-FD1C664D593C}"/>
                </c:ext>
              </c:extLst>
            </c:dLbl>
            <c:dLbl>
              <c:idx val="4"/>
              <c:tx>
                <c:rich>
                  <a:bodyPr/>
                  <a:lstStyle/>
                  <a:p>
                    <a:fld id="{3B4E5CAE-AB25-4444-A4EE-F6ADCFE23F66}" type="CELLRANGE">
                      <a:rPr lang="fr-FR"/>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5879-455B-BD17-FD1C664D593C}"/>
                </c:ext>
              </c:extLst>
            </c:dLbl>
            <c:dLbl>
              <c:idx val="5"/>
              <c:tx>
                <c:rich>
                  <a:bodyPr rot="0" spcFirstLastPara="1" vertOverflow="ellipsis" vert="horz" wrap="square" anchor="ctr" anchorCtr="1"/>
                  <a:lstStyle/>
                  <a:p>
                    <a:pPr>
                      <a:defRPr sz="1200" b="0" i="0" u="none" strike="noStrike" kern="1200" baseline="0">
                        <a:solidFill>
                          <a:schemeClr val="tx1">
                            <a:lumMod val="75000"/>
                            <a:lumOff val="25000"/>
                          </a:schemeClr>
                        </a:solidFill>
                        <a:latin typeface="Aptos Black" panose="020B0004020202020204" pitchFamily="34" charset="0"/>
                        <a:ea typeface="+mn-ea"/>
                        <a:cs typeface="+mn-cs"/>
                      </a:defRPr>
                    </a:pPr>
                    <a:fld id="{6849966B-C6F1-4883-B762-F2BAC813DBE5}" type="CELLRANGE">
                      <a:rPr lang="fr-FR"/>
                      <a:pPr>
                        <a:defRPr>
                          <a:solidFill>
                            <a:schemeClr val="tx1">
                              <a:lumMod val="75000"/>
                              <a:lumOff val="25000"/>
                            </a:schemeClr>
                          </a:solidFill>
                          <a:latin typeface="Aptos Black" panose="020B0004020202020204" pitchFamily="34" charset="0"/>
                        </a:defRPr>
                      </a:pPr>
                      <a:t>[CELLRANGE]</a:t>
                    </a:fld>
                    <a:endParaRPr lang="fr-FR"/>
                  </a:p>
                </c:rich>
              </c:tx>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ptos Black" panose="020B0004020202020204" pitchFamily="34" charset="0"/>
                      <a:ea typeface="+mn-ea"/>
                      <a:cs typeface="+mn-cs"/>
                    </a:defRPr>
                  </a:pPr>
                  <a:endParaRPr lang="fr-FR"/>
                </a:p>
              </c:txPr>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5879-455B-BD17-FD1C664D593C}"/>
                </c:ext>
              </c:extLst>
            </c:dLbl>
            <c:spPr>
              <a:noFill/>
              <a:ln>
                <a:noFill/>
              </a:ln>
              <a:effectLst/>
            </c:spPr>
            <c:txPr>
              <a:bodyPr rot="0" spcFirstLastPara="1" vertOverflow="ellipsis" vert="horz" wrap="square" anchor="ctr" anchorCtr="1"/>
              <a:lstStyle/>
              <a:p>
                <a:pPr>
                  <a:defRPr sz="1200" b="0" i="1" u="none" strike="noStrike" kern="1200" baseline="0">
                    <a:solidFill>
                      <a:schemeClr val="tx1">
                        <a:lumMod val="75000"/>
                        <a:lumOff val="25000"/>
                      </a:schemeClr>
                    </a:solidFill>
                    <a:latin typeface="Aptos" panose="020B0004020202020204" pitchFamily="34" charset="0"/>
                    <a:ea typeface="+mn-ea"/>
                    <a:cs typeface="+mn-cs"/>
                  </a:defRPr>
                </a:pPr>
                <a:endParaRPr lang="fr-FR"/>
              </a:p>
            </c:txPr>
            <c:dLblPos val="inBase"/>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Sheet2!$C$9:$C$14</c:f>
              <c:strCache>
                <c:ptCount val="6"/>
                <c:pt idx="0">
                  <c:v>CA 
année N-1</c:v>
                </c:pt>
                <c:pt idx="1">
                  <c:v>Effet 
Distribution</c:v>
                </c:pt>
                <c:pt idx="2">
                  <c:v>Effet 
Volume</c:v>
                </c:pt>
                <c:pt idx="3">
                  <c:v>Effet 
prix</c:v>
                </c:pt>
                <c:pt idx="4">
                  <c:v>Effet 
mix</c:v>
                </c:pt>
                <c:pt idx="5">
                  <c:v>CA 
année N</c:v>
                </c:pt>
              </c:strCache>
            </c:strRef>
          </c:cat>
          <c:val>
            <c:numRef>
              <c:f>Sheet2!$I$9:$I$14</c:f>
              <c:numCache>
                <c:formatCode>General</c:formatCode>
                <c:ptCount val="6"/>
                <c:pt idx="0">
                  <c:v>0</c:v>
                </c:pt>
                <c:pt idx="1">
                  <c:v>0</c:v>
                </c:pt>
                <c:pt idx="2">
                  <c:v>0</c:v>
                </c:pt>
                <c:pt idx="3">
                  <c:v>0</c:v>
                </c:pt>
                <c:pt idx="4">
                  <c:v>0</c:v>
                </c:pt>
                <c:pt idx="5">
                  <c:v>0</c:v>
                </c:pt>
              </c:numCache>
            </c:numRef>
          </c:val>
          <c:extLst>
            <c:ext xmlns:c15="http://schemas.microsoft.com/office/drawing/2012/chart" uri="{02D57815-91ED-43cb-92C2-25804820EDAC}">
              <c15:datalabelsRange>
                <c15:f>Sheet2!$J$9:$J$14</c15:f>
                <c15:dlblRangeCache>
                  <c:ptCount val="6"/>
                  <c:pt idx="0">
                    <c:v>448,5M€</c:v>
                  </c:pt>
                  <c:pt idx="1">
                    <c:v>-31,7M€
(-7,1%)</c:v>
                  </c:pt>
                  <c:pt idx="2">
                    <c:v>-42,5M€
(-9,5%)</c:v>
                  </c:pt>
                  <c:pt idx="3">
                    <c:v>+22,8M€
(+5,1%)</c:v>
                  </c:pt>
                  <c:pt idx="4">
                    <c:v>+2,9M€
(+0,6%)</c:v>
                  </c:pt>
                  <c:pt idx="5">
                    <c:v>400,0M€
(-10,8%)</c:v>
                  </c:pt>
                </c15:dlblRangeCache>
              </c15:datalabelsRange>
            </c:ext>
            <c:ext xmlns:c16="http://schemas.microsoft.com/office/drawing/2014/chart" uri="{C3380CC4-5D6E-409C-BE32-E72D297353CC}">
              <c16:uniqueId val="{0000000A-5879-455B-BD17-FD1C664D593C}"/>
            </c:ext>
          </c:extLst>
        </c:ser>
        <c:dLbls>
          <c:showLegendKey val="0"/>
          <c:showVal val="0"/>
          <c:showCatName val="0"/>
          <c:showSerName val="0"/>
          <c:showPercent val="0"/>
          <c:showBubbleSize val="0"/>
        </c:dLbls>
        <c:gapWidth val="30"/>
        <c:overlap val="100"/>
        <c:axId val="125602655"/>
        <c:axId val="125601695"/>
      </c:barChart>
      <c:catAx>
        <c:axId val="125602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ptos" panose="020B0004020202020204" pitchFamily="34" charset="0"/>
                <a:ea typeface="+mn-ea"/>
                <a:cs typeface="+mn-cs"/>
              </a:defRPr>
            </a:pPr>
            <a:endParaRPr lang="fr-FR"/>
          </a:p>
        </c:txPr>
        <c:crossAx val="125601695"/>
        <c:crosses val="autoZero"/>
        <c:auto val="1"/>
        <c:lblAlgn val="ctr"/>
        <c:lblOffset val="100"/>
        <c:noMultiLvlLbl val="0"/>
      </c:catAx>
      <c:valAx>
        <c:axId val="125601695"/>
        <c:scaling>
          <c:orientation val="minMax"/>
        </c:scaling>
        <c:delete val="1"/>
        <c:axPos val="l"/>
        <c:numFmt formatCode="#\ ##0.0\ \ &quot;M€&quot;;;" sourceLinked="1"/>
        <c:majorTickMark val="none"/>
        <c:minorTickMark val="none"/>
        <c:tickLblPos val="nextTo"/>
        <c:crossAx val="125602655"/>
        <c:crosses val="autoZero"/>
        <c:crossBetween val="between"/>
        <c:dispUnits>
          <c:builtInUnit val="millions"/>
          <c:dispUnitsLbl>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Aptos" panose="020B0004020202020204" pitchFamily="34" charset="0"/>
                    <a:ea typeface="+mn-ea"/>
                    <a:cs typeface="+mn-cs"/>
                  </a:defRPr>
                </a:pPr>
                <a:endParaRPr lang="fr-FR"/>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Aptos" panose="020B0004020202020204" pitchFamily="34" charset="0"/>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6E7438-13D2-419A-9932-DFB9ED1638C8}" type="datetimeFigureOut">
              <a:rPr lang="fr-FR" smtClean="0"/>
              <a:t>10/10/2025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C6542-D4F9-462D-AAE5-C725B1FDD1F0}" type="slidenum">
              <a:rPr lang="fr-FR" smtClean="0"/>
              <a:t>‹#›</a:t>
            </a:fld>
            <a:endParaRPr lang="fr-FR"/>
          </a:p>
        </p:txBody>
      </p:sp>
    </p:spTree>
    <p:extLst>
      <p:ext uri="{BB962C8B-B14F-4D97-AF65-F5344CB8AC3E}">
        <p14:creationId xmlns:p14="http://schemas.microsoft.com/office/powerpoint/2010/main" val="2423102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F02CE-6C22-9104-9270-C02454E9C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F6198-91D0-1F5B-69D7-D5D586BED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D4C29-4BCC-0AEC-EDA4-E1EFD68B8E14}"/>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4782661-A587-5037-3E1F-65B1294A2C34}"/>
              </a:ext>
            </a:extLst>
          </p:cNvPr>
          <p:cNvSpPr>
            <a:spLocks noGrp="1"/>
          </p:cNvSpPr>
          <p:nvPr>
            <p:ph type="sldNum" sz="quarter" idx="5"/>
          </p:nvPr>
        </p:nvSpPr>
        <p:spPr/>
        <p:txBody>
          <a:bodyPr/>
          <a:lstStyle/>
          <a:p>
            <a:fld id="{6919E253-BF34-4048-B693-B2C41DC1FE00}" type="slidenum">
              <a:rPr lang="fr-FR" smtClean="0"/>
              <a:t>2</a:t>
            </a:fld>
            <a:endParaRPr lang="fr-FR"/>
          </a:p>
        </p:txBody>
      </p:sp>
    </p:spTree>
    <p:extLst>
      <p:ext uri="{BB962C8B-B14F-4D97-AF65-F5344CB8AC3E}">
        <p14:creationId xmlns:p14="http://schemas.microsoft.com/office/powerpoint/2010/main" val="86821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480C3-F197-0084-7F73-EEABE6E6B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98A89-606D-0543-761F-5F60DFFE7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14B61-C38D-1FF9-561A-7EFA52B07F03}"/>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9BD95F61-6DE0-5338-34BB-72DD1DFDB4D9}"/>
              </a:ext>
            </a:extLst>
          </p:cNvPr>
          <p:cNvSpPr>
            <a:spLocks noGrp="1"/>
          </p:cNvSpPr>
          <p:nvPr>
            <p:ph type="sldNum" sz="quarter" idx="5"/>
          </p:nvPr>
        </p:nvSpPr>
        <p:spPr/>
        <p:txBody>
          <a:bodyPr/>
          <a:lstStyle/>
          <a:p>
            <a:fld id="{6919E253-BF34-4048-B693-B2C41DC1FE00}" type="slidenum">
              <a:rPr lang="fr-FR" smtClean="0"/>
              <a:t>3</a:t>
            </a:fld>
            <a:endParaRPr lang="fr-FR"/>
          </a:p>
        </p:txBody>
      </p:sp>
    </p:spTree>
    <p:extLst>
      <p:ext uri="{BB962C8B-B14F-4D97-AF65-F5344CB8AC3E}">
        <p14:creationId xmlns:p14="http://schemas.microsoft.com/office/powerpoint/2010/main" val="2318566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CC1E9-9A5B-66EF-2A25-DE0058CA5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34AD4-E7E6-7BFE-E34F-08C260E7D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1E968A-5CBB-E08B-E887-EFF67F068370}"/>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374549BB-9E72-9E19-4EFA-60A51F275444}"/>
              </a:ext>
            </a:extLst>
          </p:cNvPr>
          <p:cNvSpPr>
            <a:spLocks noGrp="1"/>
          </p:cNvSpPr>
          <p:nvPr>
            <p:ph type="sldNum" sz="quarter" idx="5"/>
          </p:nvPr>
        </p:nvSpPr>
        <p:spPr/>
        <p:txBody>
          <a:bodyPr/>
          <a:lstStyle/>
          <a:p>
            <a:fld id="{6919E253-BF34-4048-B693-B2C41DC1FE00}" type="slidenum">
              <a:rPr lang="fr-FR" smtClean="0"/>
              <a:t>4</a:t>
            </a:fld>
            <a:endParaRPr lang="fr-FR"/>
          </a:p>
        </p:txBody>
      </p:sp>
    </p:spTree>
    <p:extLst>
      <p:ext uri="{BB962C8B-B14F-4D97-AF65-F5344CB8AC3E}">
        <p14:creationId xmlns:p14="http://schemas.microsoft.com/office/powerpoint/2010/main" val="3971724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5E937-F3ED-C8EF-1216-4E1ED6D2A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FDD27-DC0C-DE80-137F-53C6B86F62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3FCFF-1175-B9EA-395F-7DA6606DD4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8942C1-5FDE-8EDE-DF30-05A90A40EBCF}"/>
              </a:ext>
            </a:extLst>
          </p:cNvPr>
          <p:cNvSpPr>
            <a:spLocks noGrp="1"/>
          </p:cNvSpPr>
          <p:nvPr>
            <p:ph type="sldNum" sz="quarter" idx="5"/>
          </p:nvPr>
        </p:nvSpPr>
        <p:spPr/>
        <p:txBody>
          <a:bodyPr/>
          <a:lstStyle/>
          <a:p>
            <a:fld id="{6919E253-BF34-4048-B693-B2C41DC1FE00}" type="slidenum">
              <a:rPr lang="fr-FR" smtClean="0"/>
              <a:t>5</a:t>
            </a:fld>
            <a:endParaRPr lang="fr-FR"/>
          </a:p>
        </p:txBody>
      </p:sp>
    </p:spTree>
    <p:extLst>
      <p:ext uri="{BB962C8B-B14F-4D97-AF65-F5344CB8AC3E}">
        <p14:creationId xmlns:p14="http://schemas.microsoft.com/office/powerpoint/2010/main" val="350789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9998B-4F41-580F-4644-AE867587F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8D17B-670F-F945-C091-6D0850B02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E1413-7317-E907-B386-8A3E1E0522C5}"/>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14DE1753-A1E0-3785-6B19-3348CCED3697}"/>
              </a:ext>
            </a:extLst>
          </p:cNvPr>
          <p:cNvSpPr>
            <a:spLocks noGrp="1"/>
          </p:cNvSpPr>
          <p:nvPr>
            <p:ph type="sldNum" sz="quarter" idx="5"/>
          </p:nvPr>
        </p:nvSpPr>
        <p:spPr/>
        <p:txBody>
          <a:bodyPr/>
          <a:lstStyle/>
          <a:p>
            <a:fld id="{6919E253-BF34-4048-B693-B2C41DC1FE00}" type="slidenum">
              <a:rPr lang="fr-FR" smtClean="0"/>
              <a:t>6</a:t>
            </a:fld>
            <a:endParaRPr lang="fr-FR"/>
          </a:p>
        </p:txBody>
      </p:sp>
    </p:spTree>
    <p:extLst>
      <p:ext uri="{BB962C8B-B14F-4D97-AF65-F5344CB8AC3E}">
        <p14:creationId xmlns:p14="http://schemas.microsoft.com/office/powerpoint/2010/main" val="430889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6919E253-BF34-4048-B693-B2C41DC1FE00}" type="slidenum">
              <a:rPr lang="fr-FR" smtClean="0"/>
              <a:t>7</a:t>
            </a:fld>
            <a:endParaRPr lang="fr-FR"/>
          </a:p>
        </p:txBody>
      </p:sp>
    </p:spTree>
    <p:extLst>
      <p:ext uri="{BB962C8B-B14F-4D97-AF65-F5344CB8AC3E}">
        <p14:creationId xmlns:p14="http://schemas.microsoft.com/office/powerpoint/2010/main" val="4037275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9443-930B-41A4-21CD-2927B3E8475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fr-FR"/>
          </a:p>
        </p:txBody>
      </p:sp>
      <p:sp>
        <p:nvSpPr>
          <p:cNvPr id="3" name="Subtitle 2">
            <a:extLst>
              <a:ext uri="{FF2B5EF4-FFF2-40B4-BE49-F238E27FC236}">
                <a16:creationId xmlns:a16="http://schemas.microsoft.com/office/drawing/2014/main" id="{2A3847CF-A45B-FB6D-B760-18BFE5929C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r-FR"/>
          </a:p>
        </p:txBody>
      </p:sp>
      <p:sp>
        <p:nvSpPr>
          <p:cNvPr id="4" name="Date Placeholder 3">
            <a:extLst>
              <a:ext uri="{FF2B5EF4-FFF2-40B4-BE49-F238E27FC236}">
                <a16:creationId xmlns:a16="http://schemas.microsoft.com/office/drawing/2014/main" id="{5DB3A91B-4EE8-1F73-C112-6E94C0C1D43E}"/>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5" name="Footer Placeholder 4">
            <a:extLst>
              <a:ext uri="{FF2B5EF4-FFF2-40B4-BE49-F238E27FC236}">
                <a16:creationId xmlns:a16="http://schemas.microsoft.com/office/drawing/2014/main" id="{6C1727AC-4903-1C7A-DFB1-A9D72E60E35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67AEA15-29C6-920B-4108-EE0EDC01716C}"/>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388034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C9F0B-EDDA-8463-5409-4D040B109F2E}"/>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E5E123EB-31F0-26A8-60B3-C1C3CF41B66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4150A539-5FF9-BEC9-2C07-34D9C907E61D}"/>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5" name="Footer Placeholder 4">
            <a:extLst>
              <a:ext uri="{FF2B5EF4-FFF2-40B4-BE49-F238E27FC236}">
                <a16:creationId xmlns:a16="http://schemas.microsoft.com/office/drawing/2014/main" id="{869B8A09-CD16-6F07-B034-616FCDDA097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3E3C8B5-1337-1426-49C4-C71319E961E7}"/>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55686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FF775-FBC1-000C-C5AC-4A08DBD7DAF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fr-FR"/>
          </a:p>
        </p:txBody>
      </p:sp>
      <p:sp>
        <p:nvSpPr>
          <p:cNvPr id="3" name="Text Placeholder 2">
            <a:extLst>
              <a:ext uri="{FF2B5EF4-FFF2-40B4-BE49-F238E27FC236}">
                <a16:creationId xmlns:a16="http://schemas.microsoft.com/office/drawing/2014/main" id="{C40F0044-D594-1410-A255-84AE8F59F9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671FA6-7A83-A1FA-D37E-9DAC54F63CB0}"/>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5" name="Footer Placeholder 4">
            <a:extLst>
              <a:ext uri="{FF2B5EF4-FFF2-40B4-BE49-F238E27FC236}">
                <a16:creationId xmlns:a16="http://schemas.microsoft.com/office/drawing/2014/main" id="{F59687A0-6902-790B-E724-441AE91B7D6A}"/>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E67EB3F-12F9-9E72-3E90-21C24FAFCCAE}"/>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676997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F4935-D532-EDB3-E01B-99914063520D}"/>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B558833B-EA29-159C-2B29-88E598B007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Content Placeholder 3">
            <a:extLst>
              <a:ext uri="{FF2B5EF4-FFF2-40B4-BE49-F238E27FC236}">
                <a16:creationId xmlns:a16="http://schemas.microsoft.com/office/drawing/2014/main" id="{A5FFA667-A66B-338D-0A59-6FC38B87229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Date Placeholder 4">
            <a:extLst>
              <a:ext uri="{FF2B5EF4-FFF2-40B4-BE49-F238E27FC236}">
                <a16:creationId xmlns:a16="http://schemas.microsoft.com/office/drawing/2014/main" id="{728B8974-899E-0850-2630-6B22BD504A9D}"/>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6" name="Footer Placeholder 5">
            <a:extLst>
              <a:ext uri="{FF2B5EF4-FFF2-40B4-BE49-F238E27FC236}">
                <a16:creationId xmlns:a16="http://schemas.microsoft.com/office/drawing/2014/main" id="{B106791E-3D24-D10D-7D30-783B89D6B9ED}"/>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D3E620A-F6C1-8869-3493-2AB1CE634D9A}"/>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282971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5DFB-7C45-EDB5-5A88-3569460776E9}"/>
              </a:ext>
            </a:extLst>
          </p:cNvPr>
          <p:cNvSpPr>
            <a:spLocks noGrp="1"/>
          </p:cNvSpPr>
          <p:nvPr>
            <p:ph type="title"/>
          </p:nvPr>
        </p:nvSpPr>
        <p:spPr>
          <a:xfrm>
            <a:off x="839788" y="365125"/>
            <a:ext cx="10515600" cy="1325563"/>
          </a:xfrm>
        </p:spPr>
        <p:txBody>
          <a:bodyPr/>
          <a:lstStyle/>
          <a:p>
            <a:r>
              <a:rPr lang="en-GB"/>
              <a:t>Click to edit Master title style</a:t>
            </a:r>
            <a:endParaRPr lang="fr-FR"/>
          </a:p>
        </p:txBody>
      </p:sp>
      <p:sp>
        <p:nvSpPr>
          <p:cNvPr id="3" name="Text Placeholder 2">
            <a:extLst>
              <a:ext uri="{FF2B5EF4-FFF2-40B4-BE49-F238E27FC236}">
                <a16:creationId xmlns:a16="http://schemas.microsoft.com/office/drawing/2014/main" id="{90FAED48-2B35-577C-07BD-5294679712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F318C2E-BD71-CF94-2DBB-70505262C8C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Text Placeholder 4">
            <a:extLst>
              <a:ext uri="{FF2B5EF4-FFF2-40B4-BE49-F238E27FC236}">
                <a16:creationId xmlns:a16="http://schemas.microsoft.com/office/drawing/2014/main" id="{8C223729-92B6-FF08-8695-6B3554C06F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E88A1D8-6F6F-35B4-A60C-4AAC709D57B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7" name="Date Placeholder 6">
            <a:extLst>
              <a:ext uri="{FF2B5EF4-FFF2-40B4-BE49-F238E27FC236}">
                <a16:creationId xmlns:a16="http://schemas.microsoft.com/office/drawing/2014/main" id="{47CBF9FE-A0AB-5D08-4333-20E5852D45C9}"/>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8" name="Footer Placeholder 7">
            <a:extLst>
              <a:ext uri="{FF2B5EF4-FFF2-40B4-BE49-F238E27FC236}">
                <a16:creationId xmlns:a16="http://schemas.microsoft.com/office/drawing/2014/main" id="{D473AE02-B5F9-6B8E-3BE3-19339C75C553}"/>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A084AFD3-D2AF-6655-9F42-0C1359D34BEE}"/>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291887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0DE38-D738-75C9-D13A-4D6789978959}"/>
              </a:ext>
            </a:extLst>
          </p:cNvPr>
          <p:cNvSpPr>
            <a:spLocks noGrp="1"/>
          </p:cNvSpPr>
          <p:nvPr>
            <p:ph type="title"/>
          </p:nvPr>
        </p:nvSpPr>
        <p:spPr/>
        <p:txBody>
          <a:bodyPr/>
          <a:lstStyle/>
          <a:p>
            <a:r>
              <a:rPr lang="en-GB"/>
              <a:t>Click to edit Master title style</a:t>
            </a:r>
            <a:endParaRPr lang="fr-FR"/>
          </a:p>
        </p:txBody>
      </p:sp>
      <p:sp>
        <p:nvSpPr>
          <p:cNvPr id="3" name="Date Placeholder 2">
            <a:extLst>
              <a:ext uri="{FF2B5EF4-FFF2-40B4-BE49-F238E27FC236}">
                <a16:creationId xmlns:a16="http://schemas.microsoft.com/office/drawing/2014/main" id="{0EBF86D2-1B78-6990-77D9-E22F03C6A175}"/>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4" name="Footer Placeholder 3">
            <a:extLst>
              <a:ext uri="{FF2B5EF4-FFF2-40B4-BE49-F238E27FC236}">
                <a16:creationId xmlns:a16="http://schemas.microsoft.com/office/drawing/2014/main" id="{CAE763FD-4BBF-BB0C-6BA2-2F0B19CA030F}"/>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D5F0D545-4BED-83A0-16B7-54907106B182}"/>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91357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2FBBBB-F93A-B2B7-C130-9F3F510348DD}"/>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3" name="Footer Placeholder 2">
            <a:extLst>
              <a:ext uri="{FF2B5EF4-FFF2-40B4-BE49-F238E27FC236}">
                <a16:creationId xmlns:a16="http://schemas.microsoft.com/office/drawing/2014/main" id="{757EA6F8-2967-0F0E-1206-A5113C1955A3}"/>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BA6D4928-0F9C-43B3-D788-C9C88EA74D29}"/>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621189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6AE6C-602F-C7E8-2C9E-DB64FA76701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Content Placeholder 2">
            <a:extLst>
              <a:ext uri="{FF2B5EF4-FFF2-40B4-BE49-F238E27FC236}">
                <a16:creationId xmlns:a16="http://schemas.microsoft.com/office/drawing/2014/main" id="{767C8539-8791-7754-2269-DBD7F5AB22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Text Placeholder 3">
            <a:extLst>
              <a:ext uri="{FF2B5EF4-FFF2-40B4-BE49-F238E27FC236}">
                <a16:creationId xmlns:a16="http://schemas.microsoft.com/office/drawing/2014/main" id="{B9C124F1-A2B3-72F2-6D4F-B143EEB327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84C2F-1B07-BE90-B766-63F6DBC0C846}"/>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6" name="Footer Placeholder 5">
            <a:extLst>
              <a:ext uri="{FF2B5EF4-FFF2-40B4-BE49-F238E27FC236}">
                <a16:creationId xmlns:a16="http://schemas.microsoft.com/office/drawing/2014/main" id="{F7DD7B46-8E4C-03C9-F7E5-CA7CABC12EF8}"/>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206C4921-89CD-1743-623C-EA534B1A3C8C}"/>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67095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A123-A8F4-C02E-BC00-3F662FDA35C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Picture Placeholder 2">
            <a:extLst>
              <a:ext uri="{FF2B5EF4-FFF2-40B4-BE49-F238E27FC236}">
                <a16:creationId xmlns:a16="http://schemas.microsoft.com/office/drawing/2014/main" id="{09B54629-0616-8E9C-C03D-EBAD57C382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CDDEB9C9-74C0-D194-BD09-AA155E08A5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D603BCF-7933-9C8F-7829-648BC9E86E77}"/>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6" name="Footer Placeholder 5">
            <a:extLst>
              <a:ext uri="{FF2B5EF4-FFF2-40B4-BE49-F238E27FC236}">
                <a16:creationId xmlns:a16="http://schemas.microsoft.com/office/drawing/2014/main" id="{793483DC-C214-E4CB-C8C0-08AAB831D988}"/>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28238EBB-7FBC-E049-A4D6-763641311C2C}"/>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1392800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5236-4B4F-BDA8-124D-FC0D1BAF0E92}"/>
              </a:ext>
            </a:extLst>
          </p:cNvPr>
          <p:cNvSpPr>
            <a:spLocks noGrp="1"/>
          </p:cNvSpPr>
          <p:nvPr>
            <p:ph type="title"/>
          </p:nvPr>
        </p:nvSpPr>
        <p:spPr/>
        <p:txBody>
          <a:bodyPr/>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D71F1A50-FBD3-70C9-76FD-A3E6C29B6AD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CFBB467A-5511-F7F7-CD74-881094E6EA33}"/>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5" name="Footer Placeholder 4">
            <a:extLst>
              <a:ext uri="{FF2B5EF4-FFF2-40B4-BE49-F238E27FC236}">
                <a16:creationId xmlns:a16="http://schemas.microsoft.com/office/drawing/2014/main" id="{30079695-5E7A-E938-6E3C-F03A20A8AC4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D07B77A-AEB8-9460-0B2D-8438EA5FBD2D}"/>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323781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2A0A9-E938-8A2F-1C26-F22547A8F6E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9092DA72-B28E-4855-D441-18BEF80D907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E4D2885C-39C7-6D17-D174-81E830BCC564}"/>
              </a:ext>
            </a:extLst>
          </p:cNvPr>
          <p:cNvSpPr>
            <a:spLocks noGrp="1"/>
          </p:cNvSpPr>
          <p:nvPr>
            <p:ph type="dt" sz="half" idx="10"/>
          </p:nvPr>
        </p:nvSpPr>
        <p:spPr/>
        <p:txBody>
          <a:bodyPr/>
          <a:lstStyle/>
          <a:p>
            <a:fld id="{58C42328-F42E-449B-81BD-CD0EDE31BD71}" type="datetimeFigureOut">
              <a:rPr lang="fr-FR" smtClean="0"/>
              <a:t>10/10/2025</a:t>
            </a:fld>
            <a:endParaRPr lang="fr-FR"/>
          </a:p>
        </p:txBody>
      </p:sp>
      <p:sp>
        <p:nvSpPr>
          <p:cNvPr id="5" name="Footer Placeholder 4">
            <a:extLst>
              <a:ext uri="{FF2B5EF4-FFF2-40B4-BE49-F238E27FC236}">
                <a16:creationId xmlns:a16="http://schemas.microsoft.com/office/drawing/2014/main" id="{8DE1D502-B697-0B2A-4DB3-72E0B959CE1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49C9A39-5A4B-43B4-52E7-597FBB05BEE6}"/>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55569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55CACD-B450-0B93-C13D-80986AEE41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fr-FR"/>
          </a:p>
        </p:txBody>
      </p:sp>
      <p:sp>
        <p:nvSpPr>
          <p:cNvPr id="3" name="Text Placeholder 2">
            <a:extLst>
              <a:ext uri="{FF2B5EF4-FFF2-40B4-BE49-F238E27FC236}">
                <a16:creationId xmlns:a16="http://schemas.microsoft.com/office/drawing/2014/main" id="{94402237-F8ED-2C90-652B-182BD04BAA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E6B866A9-E467-14E4-DF6E-8AABBAA3B2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C42328-F42E-449B-81BD-CD0EDE31BD71}" type="datetimeFigureOut">
              <a:rPr lang="fr-FR" smtClean="0"/>
              <a:t>10/10/2025</a:t>
            </a:fld>
            <a:endParaRPr lang="fr-FR"/>
          </a:p>
        </p:txBody>
      </p:sp>
      <p:sp>
        <p:nvSpPr>
          <p:cNvPr id="5" name="Footer Placeholder 4">
            <a:extLst>
              <a:ext uri="{FF2B5EF4-FFF2-40B4-BE49-F238E27FC236}">
                <a16:creationId xmlns:a16="http://schemas.microsoft.com/office/drawing/2014/main" id="{94CF6AC7-9535-4342-9A8D-6B6920DDE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A4EF4F1F-778A-30BC-03DD-228496E80F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58E864-EFF5-4825-84A3-522ED3851D74}" type="slidenum">
              <a:rPr lang="fr-FR" smtClean="0"/>
              <a:t>‹#›</a:t>
            </a:fld>
            <a:endParaRPr lang="fr-FR"/>
          </a:p>
        </p:txBody>
      </p:sp>
    </p:spTree>
    <p:extLst>
      <p:ext uri="{BB962C8B-B14F-4D97-AF65-F5344CB8AC3E}">
        <p14:creationId xmlns:p14="http://schemas.microsoft.com/office/powerpoint/2010/main" val="1043749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emf"/><Relationship Id="rId5" Type="http://schemas.openxmlformats.org/officeDocument/2006/relationships/oleObject" Target="../embeddings/oleObject1.bin"/><Relationship Id="rId10" Type="http://schemas.openxmlformats.org/officeDocument/2006/relationships/image" Target="../media/image8.svg"/><Relationship Id="rId4" Type="http://schemas.openxmlformats.org/officeDocument/2006/relationships/image" Target="../media/image3.jp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3.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emf"/><Relationship Id="rId5" Type="http://schemas.openxmlformats.org/officeDocument/2006/relationships/oleObject" Target="../embeddings/oleObject1.bin"/><Relationship Id="rId10" Type="http://schemas.openxmlformats.org/officeDocument/2006/relationships/image" Target="../media/image8.svg"/><Relationship Id="rId4" Type="http://schemas.openxmlformats.org/officeDocument/2006/relationships/image" Target="../media/image3.jp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jpe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chart" Target="../charts/chart1.xml"/><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5.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4.emf"/><Relationship Id="rId5" Type="http://schemas.openxmlformats.org/officeDocument/2006/relationships/oleObject" Target="../embeddings/oleObject1.bin"/><Relationship Id="rId10" Type="http://schemas.openxmlformats.org/officeDocument/2006/relationships/image" Target="../media/image8.svg"/><Relationship Id="rId4" Type="http://schemas.openxmlformats.org/officeDocument/2006/relationships/image" Target="../media/image3.jp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mailto:Vmoschetta@sammpo.fr" TargetMode="External"/><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hyperlink" Target="mailto:Smalollari@sammpo.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CF9FA-9F52-8141-4B90-7AB3DCB029F2}"/>
              </a:ext>
            </a:extLst>
          </p:cNvPr>
          <p:cNvSpPr/>
          <p:nvPr/>
        </p:nvSpPr>
        <p:spPr>
          <a:xfrm>
            <a:off x="532932" y="6405694"/>
            <a:ext cx="11126136"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100">
                <a:solidFill>
                  <a:schemeClr val="tx1">
                    <a:lumMod val="90000"/>
                    <a:lumOff val="10000"/>
                  </a:schemeClr>
                </a:solidFill>
                <a:latin typeface="+mj-lt"/>
                <a:ea typeface="Lato" panose="020F0502020204030203" pitchFamily="34" charset="0"/>
                <a:cs typeface="Lato" panose="020F0502020204030203" pitchFamily="34" charset="0"/>
              </a:rPr>
              <a:t>Source : SAMMPO | Leclerc -  Etude du 22 sept 2025 | A000</a:t>
            </a:r>
            <a:endParaRPr lang="en-US" sz="1100" dirty="0">
              <a:solidFill>
                <a:schemeClr val="tx1">
                  <a:lumMod val="90000"/>
                  <a:lumOff val="10000"/>
                </a:schemeClr>
              </a:solidFill>
              <a:latin typeface="+mj-lt"/>
              <a:ea typeface="Lato" panose="020F0502020204030203" pitchFamily="34" charset="0"/>
              <a:cs typeface="Lato" panose="020F0502020204030203" pitchFamily="34" charset="0"/>
            </a:endParaRPr>
          </a:p>
        </p:txBody>
      </p:sp>
      <p:pic>
        <p:nvPicPr>
          <p:cNvPr id="4" name="Picture 3" descr="A shelf full of liquor bottles&#10;&#10;AI-generated content may be incorrect.">
            <a:extLst>
              <a:ext uri="{FF2B5EF4-FFF2-40B4-BE49-F238E27FC236}">
                <a16:creationId xmlns:a16="http://schemas.microsoft.com/office/drawing/2014/main" id="{D12DB684-02B0-6DB7-92C8-858E243882A8}"/>
              </a:ext>
            </a:extLst>
          </p:cNvPr>
          <p:cNvPicPr>
            <a:picLocks noChangeAspect="1"/>
          </p:cNvPicPr>
          <p:nvPr/>
        </p:nvPicPr>
        <p:blipFill>
          <a:blip r:embed="rId2">
            <a:extLst>
              <a:ext uri="{28A0092B-C50C-407E-A947-70E740481C1C}">
                <a14:useLocalDpi xmlns:a14="http://schemas.microsoft.com/office/drawing/2010/main" val="0"/>
              </a:ext>
            </a:extLst>
          </a:blip>
          <a:srcRect t="13572" b="2054"/>
          <a:stretch/>
        </p:blipFill>
        <p:spPr>
          <a:xfrm>
            <a:off x="0" y="0"/>
            <a:ext cx="12192000" cy="6858000"/>
          </a:xfrm>
          <a:prstGeom prst="rect">
            <a:avLst/>
          </a:prstGeom>
        </p:spPr>
      </p:pic>
      <p:sp>
        <p:nvSpPr>
          <p:cNvPr id="15" name="Rectangle: Rounded Corners 14">
            <a:extLst>
              <a:ext uri="{FF2B5EF4-FFF2-40B4-BE49-F238E27FC236}">
                <a16:creationId xmlns:a16="http://schemas.microsoft.com/office/drawing/2014/main" id="{9CF64F9D-26C5-1F03-699F-FD681655B9C7}"/>
              </a:ext>
            </a:extLst>
          </p:cNvPr>
          <p:cNvSpPr/>
          <p:nvPr/>
        </p:nvSpPr>
        <p:spPr>
          <a:xfrm>
            <a:off x="1514475" y="1479792"/>
            <a:ext cx="9163050" cy="3898416"/>
          </a:xfrm>
          <a:prstGeom prst="roundRect">
            <a:avLst>
              <a:gd name="adj" fmla="val 6534"/>
            </a:avLst>
          </a:prstGeom>
          <a:solidFill>
            <a:srgbClr val="FFFFFF">
              <a:alpha val="94902"/>
            </a:srgb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2800" i="1" dirty="0">
              <a:solidFill>
                <a:schemeClr val="tx1"/>
              </a:solidFill>
              <a:latin typeface="Aptos" panose="020B0004020202020204"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1AF1B23E-8FE1-F1AB-1F19-B7F5A7883D4C}"/>
              </a:ext>
            </a:extLst>
          </p:cNvPr>
          <p:cNvSpPr/>
          <p:nvPr/>
        </p:nvSpPr>
        <p:spPr>
          <a:xfrm>
            <a:off x="2293586" y="4080453"/>
            <a:ext cx="7855349" cy="5147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0" i="1" u="none" strike="noStrike" kern="1200" cap="none" spc="0" normalizeH="0" baseline="0" noProof="0" dirty="0" err="1">
                <a:ln>
                  <a:noFill/>
                </a:ln>
                <a:solidFill>
                  <a:srgbClr val="1B1C1F"/>
                </a:solidFill>
                <a:effectLst/>
                <a:uLnTx/>
                <a:uFillTx/>
                <a:latin typeface="Aptos" panose="020B0004020202020204" pitchFamily="34" charset="0"/>
                <a:ea typeface="Lato" panose="020F0502020204030203" pitchFamily="34" charset="0"/>
                <a:cs typeface="Lato" panose="020F0502020204030203" pitchFamily="34" charset="0"/>
              </a:rPr>
              <a:t>Sell</a:t>
            </a:r>
            <a:r>
              <a:rPr kumimoji="0" lang="fr-FR" sz="2000" b="0" i="1" u="none" strike="noStrike" kern="1200" cap="none" spc="0" normalizeH="0" baseline="0" noProof="0" dirty="0">
                <a:ln>
                  <a:noFill/>
                </a:ln>
                <a:solidFill>
                  <a:srgbClr val="1B1C1F"/>
                </a:solidFill>
                <a:effectLst/>
                <a:uLnTx/>
                <a:uFillTx/>
                <a:latin typeface="Aptos" panose="020B0004020202020204" pitchFamily="34" charset="0"/>
                <a:ea typeface="Lato" panose="020F0502020204030203" pitchFamily="34" charset="0"/>
                <a:cs typeface="Lato" panose="020F0502020204030203" pitchFamily="34" charset="0"/>
              </a:rPr>
              <a:t> out au [Date].</a:t>
            </a:r>
          </a:p>
        </p:txBody>
      </p:sp>
      <p:sp>
        <p:nvSpPr>
          <p:cNvPr id="13" name="Rectangle 12">
            <a:extLst>
              <a:ext uri="{FF2B5EF4-FFF2-40B4-BE49-F238E27FC236}">
                <a16:creationId xmlns:a16="http://schemas.microsoft.com/office/drawing/2014/main" id="{891AA328-0521-4125-DC34-19AD94F6BE82}"/>
              </a:ext>
            </a:extLst>
          </p:cNvPr>
          <p:cNvSpPr/>
          <p:nvPr/>
        </p:nvSpPr>
        <p:spPr>
          <a:xfrm>
            <a:off x="2293586" y="3529246"/>
            <a:ext cx="7855349" cy="5147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srgbClr val="1B1C1F"/>
                </a:solidFill>
                <a:effectLst/>
                <a:uLnTx/>
                <a:uFillTx/>
                <a:latin typeface="Aptos Black" panose="020B0004020202020204" pitchFamily="34" charset="0"/>
                <a:ea typeface="Lato" panose="020F0502020204030203" pitchFamily="34" charset="0"/>
                <a:cs typeface="Lato" panose="020F0502020204030203" pitchFamily="34" charset="0"/>
              </a:rPr>
              <a:t>Analyse stratégique</a:t>
            </a:r>
          </a:p>
        </p:txBody>
      </p:sp>
      <p:grpSp>
        <p:nvGrpSpPr>
          <p:cNvPr id="14" name="Group 13">
            <a:extLst>
              <a:ext uri="{FF2B5EF4-FFF2-40B4-BE49-F238E27FC236}">
                <a16:creationId xmlns:a16="http://schemas.microsoft.com/office/drawing/2014/main" id="{FCD2B11C-ED00-1F0B-19EF-26CEB39D442C}"/>
              </a:ext>
            </a:extLst>
          </p:cNvPr>
          <p:cNvGrpSpPr/>
          <p:nvPr/>
        </p:nvGrpSpPr>
        <p:grpSpPr>
          <a:xfrm>
            <a:off x="2168326" y="2036008"/>
            <a:ext cx="7855349" cy="732592"/>
            <a:chOff x="2293586" y="2036008"/>
            <a:chExt cx="7855349" cy="732592"/>
          </a:xfrm>
        </p:grpSpPr>
        <p:cxnSp>
          <p:nvCxnSpPr>
            <p:cNvPr id="11" name="Straight Connector 10">
              <a:extLst>
                <a:ext uri="{FF2B5EF4-FFF2-40B4-BE49-F238E27FC236}">
                  <a16:creationId xmlns:a16="http://schemas.microsoft.com/office/drawing/2014/main" id="{A362B3FB-99D5-1C13-8861-C58B61311075}"/>
                </a:ext>
              </a:extLst>
            </p:cNvPr>
            <p:cNvCxnSpPr>
              <a:cxnSpLocks/>
            </p:cNvCxnSpPr>
            <p:nvPr/>
          </p:nvCxnSpPr>
          <p:spPr>
            <a:xfrm>
              <a:off x="2293586" y="2402304"/>
              <a:ext cx="3069722" cy="0"/>
            </a:xfrm>
            <a:prstGeom prst="line">
              <a:avLst/>
            </a:prstGeom>
            <a:ln w="19050">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black square with white text and a white circle&#10;&#10;AI-generated content may be incorrect.">
              <a:extLst>
                <a:ext uri="{FF2B5EF4-FFF2-40B4-BE49-F238E27FC236}">
                  <a16:creationId xmlns:a16="http://schemas.microsoft.com/office/drawing/2014/main" id="{C64784ED-5EA4-47A5-5153-062171C5A9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5206" y="2036008"/>
              <a:ext cx="732108" cy="732592"/>
            </a:xfrm>
            <a:prstGeom prst="roundRect">
              <a:avLst/>
            </a:prstGeom>
          </p:spPr>
        </p:pic>
        <p:cxnSp>
          <p:nvCxnSpPr>
            <p:cNvPr id="10" name="Straight Connector 9">
              <a:extLst>
                <a:ext uri="{FF2B5EF4-FFF2-40B4-BE49-F238E27FC236}">
                  <a16:creationId xmlns:a16="http://schemas.microsoft.com/office/drawing/2014/main" id="{593F5A8D-2513-65CA-53BE-45845430BA43}"/>
                </a:ext>
              </a:extLst>
            </p:cNvPr>
            <p:cNvCxnSpPr>
              <a:cxnSpLocks/>
            </p:cNvCxnSpPr>
            <p:nvPr/>
          </p:nvCxnSpPr>
          <p:spPr>
            <a:xfrm>
              <a:off x="7079213" y="2402304"/>
              <a:ext cx="3069722" cy="0"/>
            </a:xfrm>
            <a:prstGeom prst="line">
              <a:avLst/>
            </a:prstGeom>
            <a:ln w="19050">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448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3A5BC-8081-5FF0-A363-1F2BC4F1347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FBC57A2-782B-B563-5297-C6E4948A91B4}"/>
              </a:ext>
            </a:extLst>
          </p:cNvPr>
          <p:cNvSpPr/>
          <p:nvPr/>
        </p:nvSpPr>
        <p:spPr>
          <a:xfrm>
            <a:off x="-1" y="1403928"/>
            <a:ext cx="12192001" cy="49853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4" name="Rectangle: Rounded Corners 3">
            <a:extLst>
              <a:ext uri="{FF2B5EF4-FFF2-40B4-BE49-F238E27FC236}">
                <a16:creationId xmlns:a16="http://schemas.microsoft.com/office/drawing/2014/main" id="{98F97DBD-811A-685F-CCD0-4A2FCF1F31FF}"/>
              </a:ext>
            </a:extLst>
          </p:cNvPr>
          <p:cNvSpPr/>
          <p:nvPr/>
        </p:nvSpPr>
        <p:spPr>
          <a:xfrm>
            <a:off x="532932" y="611296"/>
            <a:ext cx="226904" cy="2269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5" name="TextBox 4">
            <a:extLst>
              <a:ext uri="{FF2B5EF4-FFF2-40B4-BE49-F238E27FC236}">
                <a16:creationId xmlns:a16="http://schemas.microsoft.com/office/drawing/2014/main" id="{15FEC552-3069-D1ED-6138-FB7DC07CEECF}"/>
              </a:ext>
            </a:extLst>
          </p:cNvPr>
          <p:cNvSpPr txBox="1"/>
          <p:nvPr/>
        </p:nvSpPr>
        <p:spPr>
          <a:xfrm>
            <a:off x="898070" y="246278"/>
            <a:ext cx="10535160" cy="340735"/>
          </a:xfrm>
          <a:prstGeom prst="rect">
            <a:avLst/>
          </a:prstGeom>
          <a:noFill/>
        </p:spPr>
        <p:txBody>
          <a:bodyPr wrap="square" lIns="0" tIns="46800" rIns="0" bIns="46800" rtlCol="0" anchor="ctr">
            <a:spAutoFit/>
          </a:bodyPr>
          <a:lstStyle/>
          <a:p>
            <a:r>
              <a:rPr lang="fr-FR" sz="1600" noProof="0" dirty="0">
                <a:latin typeface="Aptos" panose="020B0004020202020204" pitchFamily="34" charset="0"/>
              </a:rPr>
              <a:t>Partie A</a:t>
            </a:r>
          </a:p>
        </p:txBody>
      </p:sp>
      <p:sp>
        <p:nvSpPr>
          <p:cNvPr id="6" name="TextBox 5">
            <a:extLst>
              <a:ext uri="{FF2B5EF4-FFF2-40B4-BE49-F238E27FC236}">
                <a16:creationId xmlns:a16="http://schemas.microsoft.com/office/drawing/2014/main" id="{1E2D55B0-C913-981C-BE92-285BD0FBBB36}"/>
              </a:ext>
            </a:extLst>
          </p:cNvPr>
          <p:cNvSpPr txBox="1"/>
          <p:nvPr/>
        </p:nvSpPr>
        <p:spPr>
          <a:xfrm>
            <a:off x="898070" y="492774"/>
            <a:ext cx="11092497" cy="463846"/>
          </a:xfrm>
          <a:prstGeom prst="rect">
            <a:avLst/>
          </a:prstGeom>
          <a:noFill/>
        </p:spPr>
        <p:txBody>
          <a:bodyPr wrap="square" lIns="0" tIns="46800" rIns="0" bIns="46800" rtlCol="0" anchor="t">
            <a:spAutoFit/>
          </a:bodyPr>
          <a:lstStyle/>
          <a:p>
            <a:r>
              <a:rPr lang="fr-FR" sz="2400" b="1" noProof="0" dirty="0">
                <a:latin typeface="Aptos Black" panose="020B0004020202020204" pitchFamily="34" charset="0"/>
              </a:rPr>
              <a:t>Titre</a:t>
            </a:r>
          </a:p>
        </p:txBody>
      </p:sp>
      <p:sp>
        <p:nvSpPr>
          <p:cNvPr id="27" name="Rectangle 26">
            <a:extLst>
              <a:ext uri="{FF2B5EF4-FFF2-40B4-BE49-F238E27FC236}">
                <a16:creationId xmlns:a16="http://schemas.microsoft.com/office/drawing/2014/main" id="{CA483760-611C-D84E-1A58-433E81EB977D}"/>
              </a:ext>
            </a:extLst>
          </p:cNvPr>
          <p:cNvSpPr/>
          <p:nvPr/>
        </p:nvSpPr>
        <p:spPr>
          <a:xfrm>
            <a:off x="646384" y="1655115"/>
            <a:ext cx="11230656" cy="72232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b="1" dirty="0">
                <a:solidFill>
                  <a:schemeClr val="tx1">
                    <a:lumMod val="90000"/>
                    <a:lumOff val="10000"/>
                  </a:schemeClr>
                </a:solidFill>
              </a:rPr>
              <a:t>Étape 1 : </a:t>
            </a:r>
            <a:r>
              <a:rPr lang="fr-FR" sz="1400" dirty="0">
                <a:solidFill>
                  <a:schemeClr val="tx1">
                    <a:lumMod val="90000"/>
                    <a:lumOff val="10000"/>
                  </a:schemeClr>
                </a:solidFill>
              </a:rPr>
              <a:t>Calculer les effets de marché. </a:t>
            </a:r>
          </a:p>
          <a:p>
            <a:r>
              <a:rPr lang="fr-FR" sz="1400" dirty="0">
                <a:solidFill>
                  <a:schemeClr val="tx1">
                    <a:lumMod val="90000"/>
                    <a:lumOff val="10000"/>
                  </a:schemeClr>
                </a:solidFill>
              </a:rPr>
              <a:t>Quel serait le CA </a:t>
            </a:r>
            <a:r>
              <a:rPr lang="fr-FR" sz="1400" dirty="0" err="1">
                <a:solidFill>
                  <a:schemeClr val="tx1">
                    <a:lumMod val="90000"/>
                    <a:lumOff val="10000"/>
                  </a:schemeClr>
                </a:solidFill>
              </a:rPr>
              <a:t>sell</a:t>
            </a:r>
            <a:r>
              <a:rPr lang="fr-FR" sz="1400" dirty="0">
                <a:solidFill>
                  <a:schemeClr val="tx1">
                    <a:lumMod val="90000"/>
                    <a:lumOff val="10000"/>
                  </a:schemeClr>
                </a:solidFill>
              </a:rPr>
              <a:t> out de [Marque] si sa performance était alignée avec celle du marché ?</a:t>
            </a:r>
          </a:p>
        </p:txBody>
      </p:sp>
      <p:sp>
        <p:nvSpPr>
          <p:cNvPr id="28" name="Rectangle 27">
            <a:extLst>
              <a:ext uri="{FF2B5EF4-FFF2-40B4-BE49-F238E27FC236}">
                <a16:creationId xmlns:a16="http://schemas.microsoft.com/office/drawing/2014/main" id="{78C5FE29-2EEF-344E-7B23-C69CDC8AC2D0}"/>
              </a:ext>
            </a:extLst>
          </p:cNvPr>
          <p:cNvSpPr/>
          <p:nvPr/>
        </p:nvSpPr>
        <p:spPr>
          <a:xfrm>
            <a:off x="646384" y="2824748"/>
            <a:ext cx="11230656" cy="191997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lumMod val="90000"/>
                    <a:lumOff val="10000"/>
                  </a:schemeClr>
                </a:solidFill>
              </a:rPr>
              <a:t>Enjeu méthodologique : pour ne pas double compter les effets de l’entreprise, nous partons de l’équation suivante : </a:t>
            </a:r>
          </a:p>
          <a:p>
            <a:r>
              <a:rPr lang="fr-FR" sz="1400" dirty="0">
                <a:solidFill>
                  <a:schemeClr val="tx1">
                    <a:lumMod val="90000"/>
                    <a:lumOff val="10000"/>
                  </a:schemeClr>
                </a:solidFill>
              </a:rPr>
              <a:t>CA de l’entreprise = CA</a:t>
            </a:r>
            <a:r>
              <a:rPr lang="fr-FR" sz="1400" baseline="-25000" dirty="0">
                <a:solidFill>
                  <a:schemeClr val="tx1">
                    <a:lumMod val="90000"/>
                    <a:lumOff val="10000"/>
                  </a:schemeClr>
                </a:solidFill>
              </a:rPr>
              <a:t>E</a:t>
            </a:r>
            <a:r>
              <a:rPr lang="fr-FR" sz="1400" baseline="30000" dirty="0">
                <a:solidFill>
                  <a:schemeClr val="tx1">
                    <a:lumMod val="90000"/>
                    <a:lumOff val="10000"/>
                  </a:schemeClr>
                </a:solidFill>
              </a:rPr>
              <a:t> </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endParaRPr lang="fr-FR" sz="1400" dirty="0">
              <a:solidFill>
                <a:schemeClr val="tx1">
                  <a:lumMod val="90000"/>
                  <a:lumOff val="10000"/>
                </a:schemeClr>
              </a:solidFill>
            </a:endParaRPr>
          </a:p>
          <a:p>
            <a:r>
              <a:rPr lang="fr-FR" sz="1400" dirty="0">
                <a:solidFill>
                  <a:schemeClr val="tx1">
                    <a:lumMod val="90000"/>
                    <a:lumOff val="10000"/>
                  </a:schemeClr>
                </a:solidFill>
              </a:rPr>
              <a:t>Le ratio entre le CA de l’entreprise et de la concurrence est un ratio de parts de marché adapté. Ce ratio reste fixe dans la partie haute du bridge. L’idée est d’identifier les évolutions des effets prix, mix et volumes sur la concurrence en prenant une part de marché fixe pour notre entreprise.</a:t>
            </a:r>
          </a:p>
          <a:p>
            <a:endParaRPr lang="fr-FR" sz="1400" dirty="0">
              <a:solidFill>
                <a:schemeClr val="tx1">
                  <a:lumMod val="90000"/>
                  <a:lumOff val="10000"/>
                </a:schemeClr>
              </a:solidFill>
            </a:endParaRPr>
          </a:p>
          <a:p>
            <a:r>
              <a:rPr lang="fr-FR" sz="1400" dirty="0">
                <a:solidFill>
                  <a:schemeClr val="tx1">
                    <a:lumMod val="90000"/>
                    <a:lumOff val="10000"/>
                  </a:schemeClr>
                </a:solidFill>
              </a:rPr>
              <a:t>La partie haute du </a:t>
            </a:r>
            <a:r>
              <a:rPr lang="fr-FR" sz="1400" dirty="0" err="1">
                <a:solidFill>
                  <a:schemeClr val="tx1">
                    <a:lumMod val="90000"/>
                    <a:lumOff val="10000"/>
                  </a:schemeClr>
                </a:solidFill>
              </a:rPr>
              <a:t>waterfall</a:t>
            </a:r>
            <a:r>
              <a:rPr lang="fr-FR" sz="1400" dirty="0">
                <a:solidFill>
                  <a:schemeClr val="tx1">
                    <a:lumMod val="90000"/>
                    <a:lumOff val="10000"/>
                  </a:schemeClr>
                </a:solidFill>
              </a:rPr>
              <a:t> permet de répondre à la question « Quel aurait été le CA de l’</a:t>
            </a:r>
            <a:r>
              <a:rPr lang="fr-FR" sz="1400" dirty="0" err="1">
                <a:solidFill>
                  <a:schemeClr val="tx1">
                    <a:lumMod val="90000"/>
                    <a:lumOff val="10000"/>
                  </a:schemeClr>
                </a:solidFill>
              </a:rPr>
              <a:t>enteprise</a:t>
            </a:r>
            <a:r>
              <a:rPr lang="fr-FR" sz="1400" dirty="0">
                <a:solidFill>
                  <a:schemeClr val="tx1">
                    <a:lumMod val="90000"/>
                    <a:lumOff val="10000"/>
                  </a:schemeClr>
                </a:solidFill>
              </a:rPr>
              <a:t> si elle avait maintenu ses parts de marché et quels ont été les principaux déterminants de l’évolution du marché ».</a:t>
            </a:r>
          </a:p>
        </p:txBody>
      </p:sp>
      <p:sp>
        <p:nvSpPr>
          <p:cNvPr id="29" name="Rectangle 28">
            <a:extLst>
              <a:ext uri="{FF2B5EF4-FFF2-40B4-BE49-F238E27FC236}">
                <a16:creationId xmlns:a16="http://schemas.microsoft.com/office/drawing/2014/main" id="{C410B6A0-0A7F-E28F-97D2-276BA66348A7}"/>
              </a:ext>
            </a:extLst>
          </p:cNvPr>
          <p:cNvSpPr/>
          <p:nvPr/>
        </p:nvSpPr>
        <p:spPr>
          <a:xfrm>
            <a:off x="646384" y="4916652"/>
            <a:ext cx="11230656" cy="191997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lumMod val="90000"/>
                    <a:lumOff val="10000"/>
                  </a:schemeClr>
                </a:solidFill>
              </a:rPr>
              <a:t>Enjeu méthodologique : pour ne pas double compter les effets de l’entreprise, nous partons de l’équation suivante : </a:t>
            </a:r>
          </a:p>
          <a:p>
            <a:r>
              <a:rPr lang="fr-FR" sz="1400" dirty="0">
                <a:solidFill>
                  <a:schemeClr val="tx1">
                    <a:lumMod val="90000"/>
                    <a:lumOff val="10000"/>
                  </a:schemeClr>
                </a:solidFill>
              </a:rPr>
              <a:t>CA de l’entreprise = CA</a:t>
            </a:r>
            <a:r>
              <a:rPr lang="fr-FR" sz="1400" baseline="-25000" dirty="0">
                <a:solidFill>
                  <a:schemeClr val="tx1">
                    <a:lumMod val="90000"/>
                    <a:lumOff val="10000"/>
                  </a:schemeClr>
                </a:solidFill>
              </a:rPr>
              <a:t>E</a:t>
            </a:r>
            <a:r>
              <a:rPr lang="fr-FR" sz="1400" baseline="30000" dirty="0">
                <a:solidFill>
                  <a:schemeClr val="tx1">
                    <a:lumMod val="90000"/>
                    <a:lumOff val="10000"/>
                  </a:schemeClr>
                </a:solidFill>
              </a:rPr>
              <a:t> </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endParaRPr lang="fr-FR" sz="1400" dirty="0">
              <a:solidFill>
                <a:schemeClr val="tx1">
                  <a:lumMod val="90000"/>
                  <a:lumOff val="10000"/>
                </a:schemeClr>
              </a:solidFill>
            </a:endParaRPr>
          </a:p>
          <a:p>
            <a:r>
              <a:rPr lang="fr-FR" sz="1400" dirty="0">
                <a:solidFill>
                  <a:schemeClr val="tx1">
                    <a:lumMod val="90000"/>
                    <a:lumOff val="10000"/>
                  </a:schemeClr>
                </a:solidFill>
              </a:rPr>
              <a:t>Le ratio entre le CA de l’entreprise et de la concurrence est un ratio de parts de marché adapté. Ce ratio reste fixe dans la partie haute du bridge. L’idée est d’identifier les évolutions des effets prix, mix et volumes sur la concurrence en prenant une part de marché fixe pour notre entreprise.</a:t>
            </a:r>
          </a:p>
          <a:p>
            <a:endParaRPr lang="fr-FR" sz="1400" dirty="0">
              <a:solidFill>
                <a:schemeClr val="tx1">
                  <a:lumMod val="90000"/>
                  <a:lumOff val="10000"/>
                </a:schemeClr>
              </a:solidFill>
            </a:endParaRPr>
          </a:p>
          <a:p>
            <a:r>
              <a:rPr lang="fr-FR" sz="1400" dirty="0">
                <a:solidFill>
                  <a:schemeClr val="tx1">
                    <a:lumMod val="90000"/>
                    <a:lumOff val="10000"/>
                  </a:schemeClr>
                </a:solidFill>
              </a:rPr>
              <a:t>La partie haute du </a:t>
            </a:r>
            <a:r>
              <a:rPr lang="fr-FR" sz="1400" dirty="0" err="1">
                <a:solidFill>
                  <a:schemeClr val="tx1">
                    <a:lumMod val="90000"/>
                    <a:lumOff val="10000"/>
                  </a:schemeClr>
                </a:solidFill>
              </a:rPr>
              <a:t>waterfall</a:t>
            </a:r>
            <a:r>
              <a:rPr lang="fr-FR" sz="1400" dirty="0">
                <a:solidFill>
                  <a:schemeClr val="tx1">
                    <a:lumMod val="90000"/>
                    <a:lumOff val="10000"/>
                  </a:schemeClr>
                </a:solidFill>
              </a:rPr>
              <a:t> permet de répondre à la question « Quel aurait été le CA de l’</a:t>
            </a:r>
            <a:r>
              <a:rPr lang="fr-FR" sz="1400" dirty="0" err="1">
                <a:solidFill>
                  <a:schemeClr val="tx1">
                    <a:lumMod val="90000"/>
                    <a:lumOff val="10000"/>
                  </a:schemeClr>
                </a:solidFill>
              </a:rPr>
              <a:t>enteprise</a:t>
            </a:r>
            <a:r>
              <a:rPr lang="fr-FR" sz="1400" dirty="0">
                <a:solidFill>
                  <a:schemeClr val="tx1">
                    <a:lumMod val="90000"/>
                    <a:lumOff val="10000"/>
                  </a:schemeClr>
                </a:solidFill>
              </a:rPr>
              <a:t> si elle avait maintenu ses parts de marché et quels ont été les principaux déterminants de l’évolution du marché ».</a:t>
            </a:r>
          </a:p>
        </p:txBody>
      </p:sp>
    </p:spTree>
    <p:extLst>
      <p:ext uri="{BB962C8B-B14F-4D97-AF65-F5344CB8AC3E}">
        <p14:creationId xmlns:p14="http://schemas.microsoft.com/office/powerpoint/2010/main" val="1512336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CD957-0927-2C46-F483-DFECD164260A}"/>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592CD053-A8E8-086C-6BDE-384FC8B9F822}"/>
              </a:ext>
            </a:extLst>
          </p:cNvPr>
          <p:cNvSpPr/>
          <p:nvPr/>
        </p:nvSpPr>
        <p:spPr>
          <a:xfrm>
            <a:off x="0" y="1"/>
            <a:ext cx="12192000" cy="2744156"/>
          </a:xfrm>
          <a:prstGeom prst="rect">
            <a:avLst/>
          </a:prstGeom>
          <a:blipFill>
            <a:blip r:embed="rId4"/>
            <a:stretch>
              <a:fillRect t="-48594" b="-5874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aphicFrame>
        <p:nvGraphicFramePr>
          <p:cNvPr id="16" name="think-cell data - do not delete" hidden="1">
            <a:extLst>
              <a:ext uri="{FF2B5EF4-FFF2-40B4-BE49-F238E27FC236}">
                <a16:creationId xmlns:a16="http://schemas.microsoft.com/office/drawing/2014/main" id="{F185F17A-BA52-EF97-365B-513F5238E33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4" progId="TCLayout.ActiveDocument.1">
                  <p:embed/>
                </p:oleObj>
              </mc:Choice>
              <mc:Fallback>
                <p:oleObj name="think-cell Slide" r:id="rId5" imgW="473" imgH="474" progId="TCLayout.ActiveDocument.1">
                  <p:embed/>
                  <p:pic>
                    <p:nvPicPr>
                      <p:cNvPr id="16" name="think-cell data - do not delete" hidden="1">
                        <a:extLst>
                          <a:ext uri="{FF2B5EF4-FFF2-40B4-BE49-F238E27FC236}">
                            <a16:creationId xmlns:a16="http://schemas.microsoft.com/office/drawing/2014/main" id="{F185F17A-BA52-EF97-365B-513F5238E33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86066747-6094-F810-2098-1823B787B0D7}"/>
              </a:ext>
            </a:extLst>
          </p:cNvPr>
          <p:cNvSpPr/>
          <p:nvPr/>
        </p:nvSpPr>
        <p:spPr>
          <a:xfrm>
            <a:off x="0" y="1"/>
            <a:ext cx="12192000" cy="2744156"/>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F7B5F888-FCE6-B14B-8EDC-8323D47F2F95}"/>
              </a:ext>
            </a:extLst>
          </p:cNvPr>
          <p:cNvSpPr/>
          <p:nvPr/>
        </p:nvSpPr>
        <p:spPr>
          <a:xfrm>
            <a:off x="8153400" y="1"/>
            <a:ext cx="3614107" cy="6493932"/>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2" name="Rectangle: Rounded Corners 1">
            <a:extLst>
              <a:ext uri="{FF2B5EF4-FFF2-40B4-BE49-F238E27FC236}">
                <a16:creationId xmlns:a16="http://schemas.microsoft.com/office/drawing/2014/main" id="{FD2F6B92-806D-B899-6E21-9CABA74B43E5}"/>
              </a:ext>
            </a:extLst>
          </p:cNvPr>
          <p:cNvSpPr/>
          <p:nvPr/>
        </p:nvSpPr>
        <p:spPr>
          <a:xfrm>
            <a:off x="532932" y="611296"/>
            <a:ext cx="238716"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96CA1F96-6403-3CFA-4CF5-94F705987FD2}"/>
              </a:ext>
            </a:extLst>
          </p:cNvPr>
          <p:cNvSpPr txBox="1"/>
          <p:nvPr/>
        </p:nvSpPr>
        <p:spPr>
          <a:xfrm>
            <a:off x="917078" y="246278"/>
            <a:ext cx="5235405" cy="340735"/>
          </a:xfrm>
          <a:prstGeom prst="rect">
            <a:avLst/>
          </a:prstGeom>
          <a:noFill/>
        </p:spPr>
        <p:txBody>
          <a:bodyPr wrap="square" lIns="0" tIns="46800" rIns="0" bIns="46800" rtlCol="0" anchor="ctr">
            <a:spAutoFit/>
          </a:bodyPr>
          <a:lstStyle/>
          <a:p>
            <a:r>
              <a:rPr lang="fr-FR" sz="1600" noProof="0" dirty="0">
                <a:solidFill>
                  <a:schemeClr val="bg1"/>
                </a:solidFill>
                <a:latin typeface="Aptos" panose="020B0004020202020204" pitchFamily="34" charset="0"/>
              </a:rPr>
              <a:t>Fiche rayon</a:t>
            </a:r>
          </a:p>
        </p:txBody>
      </p:sp>
      <p:sp>
        <p:nvSpPr>
          <p:cNvPr id="6" name="TextBox 5">
            <a:extLst>
              <a:ext uri="{FF2B5EF4-FFF2-40B4-BE49-F238E27FC236}">
                <a16:creationId xmlns:a16="http://schemas.microsoft.com/office/drawing/2014/main" id="{3114E990-CF48-4D57-26BB-9C9E56700176}"/>
              </a:ext>
            </a:extLst>
          </p:cNvPr>
          <p:cNvSpPr txBox="1"/>
          <p:nvPr/>
        </p:nvSpPr>
        <p:spPr>
          <a:xfrm>
            <a:off x="917078" y="492774"/>
            <a:ext cx="7401422" cy="463846"/>
          </a:xfrm>
          <a:prstGeom prst="rect">
            <a:avLst/>
          </a:prstGeom>
          <a:noFill/>
        </p:spPr>
        <p:txBody>
          <a:bodyPr wrap="square" lIns="0" tIns="46800" rIns="0" bIns="46800" rtlCol="0" anchor="t">
            <a:spAutoFit/>
          </a:bodyPr>
          <a:lstStyle/>
          <a:p>
            <a:r>
              <a:rPr lang="fr-FR" sz="2400" b="1" noProof="0" dirty="0">
                <a:solidFill>
                  <a:schemeClr val="bg1"/>
                </a:solidFill>
                <a:latin typeface="Aptos Black" panose="020B0004020202020204" pitchFamily="34" charset="0"/>
              </a:rPr>
              <a:t>Spiritueux</a:t>
            </a:r>
          </a:p>
        </p:txBody>
      </p:sp>
      <p:grpSp>
        <p:nvGrpSpPr>
          <p:cNvPr id="36" name="Group 35">
            <a:extLst>
              <a:ext uri="{FF2B5EF4-FFF2-40B4-BE49-F238E27FC236}">
                <a16:creationId xmlns:a16="http://schemas.microsoft.com/office/drawing/2014/main" id="{4BE78813-F8AC-9239-7F79-A2CFE67EB7F5}"/>
              </a:ext>
            </a:extLst>
          </p:cNvPr>
          <p:cNvGrpSpPr/>
          <p:nvPr/>
        </p:nvGrpSpPr>
        <p:grpSpPr>
          <a:xfrm>
            <a:off x="8468218" y="1891576"/>
            <a:ext cx="2923102" cy="930810"/>
            <a:chOff x="8468218" y="1963494"/>
            <a:chExt cx="2923102" cy="930810"/>
          </a:xfrm>
        </p:grpSpPr>
        <p:sp>
          <p:nvSpPr>
            <p:cNvPr id="20" name="Rectangle 19">
              <a:extLst>
                <a:ext uri="{FF2B5EF4-FFF2-40B4-BE49-F238E27FC236}">
                  <a16:creationId xmlns:a16="http://schemas.microsoft.com/office/drawing/2014/main" id="{8B119B1B-DD85-5F99-0483-2246730F091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Capacités limitées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la durée de vieillissement et les appellations contrôlées réduisent la capacité de production. (</a:t>
              </a:r>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Enjeux BFR)</a:t>
              </a:r>
            </a:p>
          </p:txBody>
        </p:sp>
        <p:pic>
          <p:nvPicPr>
            <p:cNvPr id="35" name="Graphic 34" descr="Badge Follow with solid fill">
              <a:extLst>
                <a:ext uri="{FF2B5EF4-FFF2-40B4-BE49-F238E27FC236}">
                  <a16:creationId xmlns:a16="http://schemas.microsoft.com/office/drawing/2014/main" id="{615046C2-52D2-0DAB-8DEF-B8343F115C9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sp>
        <p:nvSpPr>
          <p:cNvPr id="9" name="Star: 10 Points 8">
            <a:extLst>
              <a:ext uri="{FF2B5EF4-FFF2-40B4-BE49-F238E27FC236}">
                <a16:creationId xmlns:a16="http://schemas.microsoft.com/office/drawing/2014/main" id="{88136A93-7A3B-3AA4-F2C8-0FE7B8756B26}"/>
              </a:ext>
            </a:extLst>
          </p:cNvPr>
          <p:cNvSpPr/>
          <p:nvPr/>
        </p:nvSpPr>
        <p:spPr>
          <a:xfrm>
            <a:off x="10020926" y="5929517"/>
            <a:ext cx="291504" cy="291504"/>
          </a:xfrm>
          <a:prstGeom prst="star1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dirty="0">
                <a:solidFill>
                  <a:schemeClr val="tx1">
                    <a:lumMod val="90000"/>
                    <a:lumOff val="10000"/>
                  </a:schemeClr>
                </a:solidFill>
                <a:latin typeface="Aptos Black" panose="020B0004020202020204" pitchFamily="34" charset="0"/>
                <a:ea typeface="Lato" panose="020F0502020204030203" pitchFamily="34" charset="0"/>
                <a:cs typeface="Lato" panose="020F0502020204030203" pitchFamily="34" charset="0"/>
              </a:rPr>
              <a:t>%</a:t>
            </a:r>
          </a:p>
        </p:txBody>
      </p:sp>
      <p:sp>
        <p:nvSpPr>
          <p:cNvPr id="10" name="Rectangle 9">
            <a:extLst>
              <a:ext uri="{FF2B5EF4-FFF2-40B4-BE49-F238E27FC236}">
                <a16:creationId xmlns:a16="http://schemas.microsoft.com/office/drawing/2014/main" id="{F6E2528D-190B-0F67-9980-B52BA46D8E0F}"/>
              </a:ext>
            </a:extLst>
          </p:cNvPr>
          <p:cNvSpPr/>
          <p:nvPr/>
        </p:nvSpPr>
        <p:spPr>
          <a:xfrm>
            <a:off x="10443332" y="5800083"/>
            <a:ext cx="1273238"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18% / 28%</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Marge d’exploitation</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06" name="Group 105">
            <a:extLst>
              <a:ext uri="{FF2B5EF4-FFF2-40B4-BE49-F238E27FC236}">
                <a16:creationId xmlns:a16="http://schemas.microsoft.com/office/drawing/2014/main" id="{7EC8708B-348F-85F7-A931-1B768204A4B9}"/>
              </a:ext>
            </a:extLst>
          </p:cNvPr>
          <p:cNvGrpSpPr/>
          <p:nvPr/>
        </p:nvGrpSpPr>
        <p:grpSpPr>
          <a:xfrm>
            <a:off x="8354326" y="5959649"/>
            <a:ext cx="261372" cy="261372"/>
            <a:chOff x="2086429" y="1946627"/>
            <a:chExt cx="337037" cy="337037"/>
          </a:xfrm>
        </p:grpSpPr>
        <p:sp>
          <p:nvSpPr>
            <p:cNvPr id="12" name="Rectangle: Rounded Corners 11">
              <a:extLst>
                <a:ext uri="{FF2B5EF4-FFF2-40B4-BE49-F238E27FC236}">
                  <a16:creationId xmlns:a16="http://schemas.microsoft.com/office/drawing/2014/main" id="{1B7FEC26-B8BE-6D49-B9AD-203482E874AA}"/>
                </a:ext>
              </a:extLst>
            </p:cNvPr>
            <p:cNvSpPr/>
            <p:nvPr/>
          </p:nvSpPr>
          <p:spPr>
            <a:xfrm>
              <a:off x="2086429" y="1946627"/>
              <a:ext cx="337037" cy="337037"/>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4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pic>
          <p:nvPicPr>
            <p:cNvPr id="23" name="Graphic 22" descr="Minimize with solid fill">
              <a:extLst>
                <a:ext uri="{FF2B5EF4-FFF2-40B4-BE49-F238E27FC236}">
                  <a16:creationId xmlns:a16="http://schemas.microsoft.com/office/drawing/2014/main" id="{818C1230-2BAF-125A-B22F-A2298573BA4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39428" y="1999626"/>
              <a:ext cx="231038" cy="231038"/>
            </a:xfrm>
            <a:prstGeom prst="rect">
              <a:avLst/>
            </a:prstGeom>
          </p:spPr>
        </p:pic>
      </p:grpSp>
      <p:sp>
        <p:nvSpPr>
          <p:cNvPr id="32" name="Rectangle 31">
            <a:extLst>
              <a:ext uri="{FF2B5EF4-FFF2-40B4-BE49-F238E27FC236}">
                <a16:creationId xmlns:a16="http://schemas.microsoft.com/office/drawing/2014/main" id="{DE787180-8476-FC6A-94EA-EA9A48697A8F}"/>
              </a:ext>
            </a:extLst>
          </p:cNvPr>
          <p:cNvSpPr/>
          <p:nvPr/>
        </p:nvSpPr>
        <p:spPr>
          <a:xfrm>
            <a:off x="8762020" y="5800083"/>
            <a:ext cx="1184209"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-1,2 / -2,2</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Élasticité prix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51" name="Rectangle 150">
            <a:extLst>
              <a:ext uri="{FF2B5EF4-FFF2-40B4-BE49-F238E27FC236}">
                <a16:creationId xmlns:a16="http://schemas.microsoft.com/office/drawing/2014/main" id="{46E73DB9-A323-2183-6A4F-42BFD8F15A47}"/>
              </a:ext>
            </a:extLst>
          </p:cNvPr>
          <p:cNvSpPr/>
          <p:nvPr/>
        </p:nvSpPr>
        <p:spPr>
          <a:xfrm>
            <a:off x="9240608" y="1372370"/>
            <a:ext cx="1439690" cy="3034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Enjeux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22" name="Rectangle 121">
            <a:extLst>
              <a:ext uri="{FF2B5EF4-FFF2-40B4-BE49-F238E27FC236}">
                <a16:creationId xmlns:a16="http://schemas.microsoft.com/office/drawing/2014/main" id="{987C0EE5-16E0-110A-F7C2-38A298B0847E}"/>
              </a:ext>
            </a:extLst>
          </p:cNvPr>
          <p:cNvSpPr/>
          <p:nvPr/>
        </p:nvSpPr>
        <p:spPr>
          <a:xfrm>
            <a:off x="532931" y="6405694"/>
            <a:ext cx="11234575"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Source : SAMMPO | </a:t>
            </a:r>
            <a:r>
              <a:rPr lang="fr-FR" sz="1100" dirty="0" err="1">
                <a:solidFill>
                  <a:schemeClr val="tx1"/>
                </a:solidFill>
                <a:latin typeface="Aptos" panose="020B0004020202020204" pitchFamily="34" charset="0"/>
                <a:ea typeface="Lato" panose="020F0502020204030203" pitchFamily="34" charset="0"/>
                <a:cs typeface="Lato" panose="020F0502020204030203" pitchFamily="34" charset="0"/>
              </a:rPr>
              <a:t>Sell</a:t>
            </a:r>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-out [Provider] au [Date] – A001</a:t>
            </a:r>
          </a:p>
        </p:txBody>
      </p:sp>
      <p:grpSp>
        <p:nvGrpSpPr>
          <p:cNvPr id="131" name="Group 130">
            <a:extLst>
              <a:ext uri="{FF2B5EF4-FFF2-40B4-BE49-F238E27FC236}">
                <a16:creationId xmlns:a16="http://schemas.microsoft.com/office/drawing/2014/main" id="{FE090A64-0DCA-650C-34FD-6062D5ED5A96}"/>
              </a:ext>
            </a:extLst>
          </p:cNvPr>
          <p:cNvGrpSpPr/>
          <p:nvPr/>
        </p:nvGrpSpPr>
        <p:grpSpPr>
          <a:xfrm>
            <a:off x="8468218" y="2965866"/>
            <a:ext cx="2923102" cy="930810"/>
            <a:chOff x="8468218" y="1963494"/>
            <a:chExt cx="2923102" cy="930810"/>
          </a:xfrm>
        </p:grpSpPr>
        <p:sp>
          <p:nvSpPr>
            <p:cNvPr id="132" name="Rectangle 131">
              <a:extLst>
                <a:ext uri="{FF2B5EF4-FFF2-40B4-BE49-F238E27FC236}">
                  <a16:creationId xmlns:a16="http://schemas.microsoft.com/office/drawing/2014/main" id="{74760719-0ACC-EABD-E636-8257DC7DF195}"/>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Volumes en danger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Le contexte géopolitique ainsi que les changements des habitudes d’achat nuisent aux ventes.</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3" name="Graphic 132" descr="Badge Follow with solid fill">
              <a:extLst>
                <a:ext uri="{FF2B5EF4-FFF2-40B4-BE49-F238E27FC236}">
                  <a16:creationId xmlns:a16="http://schemas.microsoft.com/office/drawing/2014/main" id="{EC5C50C4-4BC8-7FA4-9B76-1965DF4DD9F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4" name="Group 133">
            <a:extLst>
              <a:ext uri="{FF2B5EF4-FFF2-40B4-BE49-F238E27FC236}">
                <a16:creationId xmlns:a16="http://schemas.microsoft.com/office/drawing/2014/main" id="{516358FB-7414-ABF3-1B6F-D374599D0953}"/>
              </a:ext>
            </a:extLst>
          </p:cNvPr>
          <p:cNvGrpSpPr/>
          <p:nvPr/>
        </p:nvGrpSpPr>
        <p:grpSpPr>
          <a:xfrm>
            <a:off x="8468218" y="4040156"/>
            <a:ext cx="2923102" cy="930810"/>
            <a:chOff x="8468218" y="1963494"/>
            <a:chExt cx="2923102" cy="930810"/>
          </a:xfrm>
        </p:grpSpPr>
        <p:sp>
          <p:nvSpPr>
            <p:cNvPr id="135" name="Rectangle 134">
              <a:extLst>
                <a:ext uri="{FF2B5EF4-FFF2-40B4-BE49-F238E27FC236}">
                  <a16:creationId xmlns:a16="http://schemas.microsoft.com/office/drawing/2014/main" id="{0CD11060-400C-EE45-86AB-C16DA29AD696}"/>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Réglementation et taxes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Le rayon subit des contraintes marketing additionnelles, et un coût fiscal plus élevé (accise).</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6" name="Graphic 135" descr="Badge Follow with solid fill">
              <a:extLst>
                <a:ext uri="{FF2B5EF4-FFF2-40B4-BE49-F238E27FC236}">
                  <a16:creationId xmlns:a16="http://schemas.microsoft.com/office/drawing/2014/main" id="{2BEED503-8833-FFB0-DC56-B3A148DB2A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7" name="Group 136">
            <a:extLst>
              <a:ext uri="{FF2B5EF4-FFF2-40B4-BE49-F238E27FC236}">
                <a16:creationId xmlns:a16="http://schemas.microsoft.com/office/drawing/2014/main" id="{E61A6F6C-4C0F-A557-638B-1F0E4608754E}"/>
              </a:ext>
            </a:extLst>
          </p:cNvPr>
          <p:cNvGrpSpPr/>
          <p:nvPr/>
        </p:nvGrpSpPr>
        <p:grpSpPr>
          <a:xfrm>
            <a:off x="8468218" y="5114447"/>
            <a:ext cx="2923102" cy="454976"/>
            <a:chOff x="8468218" y="1963494"/>
            <a:chExt cx="2923102" cy="454976"/>
          </a:xfrm>
        </p:grpSpPr>
        <p:sp>
          <p:nvSpPr>
            <p:cNvPr id="138" name="Rectangle 137">
              <a:extLst>
                <a:ext uri="{FF2B5EF4-FFF2-40B4-BE49-F238E27FC236}">
                  <a16:creationId xmlns:a16="http://schemas.microsoft.com/office/drawing/2014/main" id="{0A32CB1B-58C4-8074-154B-83D9EEBEEF52}"/>
                </a:ext>
              </a:extLst>
            </p:cNvPr>
            <p:cNvSpPr/>
            <p:nvPr/>
          </p:nvSpPr>
          <p:spPr>
            <a:xfrm>
              <a:off x="8814791" y="1968552"/>
              <a:ext cx="2576529"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Forte saisonnalité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Impose des prévisions de ventes précises.</a:t>
              </a:r>
            </a:p>
          </p:txBody>
        </p:sp>
        <p:pic>
          <p:nvPicPr>
            <p:cNvPr id="139" name="Graphic 138" descr="Badge Follow with solid fill">
              <a:extLst>
                <a:ext uri="{FF2B5EF4-FFF2-40B4-BE49-F238E27FC236}">
                  <a16:creationId xmlns:a16="http://schemas.microsoft.com/office/drawing/2014/main" id="{C5BD93D5-4660-3594-26AD-AB749E8D04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16" name="Group 115">
            <a:extLst>
              <a:ext uri="{FF2B5EF4-FFF2-40B4-BE49-F238E27FC236}">
                <a16:creationId xmlns:a16="http://schemas.microsoft.com/office/drawing/2014/main" id="{6E755056-EA08-22E2-D2B2-AFE24058DA4C}"/>
              </a:ext>
            </a:extLst>
          </p:cNvPr>
          <p:cNvGrpSpPr/>
          <p:nvPr/>
        </p:nvGrpSpPr>
        <p:grpSpPr>
          <a:xfrm>
            <a:off x="8277038" y="663623"/>
            <a:ext cx="1013795" cy="528590"/>
            <a:chOff x="8189657" y="828723"/>
            <a:chExt cx="1065509" cy="528590"/>
          </a:xfrm>
        </p:grpSpPr>
        <p:sp>
          <p:nvSpPr>
            <p:cNvPr id="84" name="Rectangle: Rounded Corners 83">
              <a:extLst>
                <a:ext uri="{FF2B5EF4-FFF2-40B4-BE49-F238E27FC236}">
                  <a16:creationId xmlns:a16="http://schemas.microsoft.com/office/drawing/2014/main" id="{284055BE-7A91-C713-0609-587E3987CC8F}"/>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14" name="Group 113">
              <a:extLst>
                <a:ext uri="{FF2B5EF4-FFF2-40B4-BE49-F238E27FC236}">
                  <a16:creationId xmlns:a16="http://schemas.microsoft.com/office/drawing/2014/main" id="{1F5F28A1-FB90-C9B4-A173-3589F19BC3F8}"/>
                </a:ext>
              </a:extLst>
            </p:cNvPr>
            <p:cNvGrpSpPr/>
            <p:nvPr/>
          </p:nvGrpSpPr>
          <p:grpSpPr>
            <a:xfrm>
              <a:off x="8256809" y="878813"/>
              <a:ext cx="931205" cy="428410"/>
              <a:chOff x="8256810" y="862680"/>
              <a:chExt cx="931205" cy="428410"/>
            </a:xfrm>
          </p:grpSpPr>
          <p:sp>
            <p:nvSpPr>
              <p:cNvPr id="86" name="Rectangle 85">
                <a:extLst>
                  <a:ext uri="{FF2B5EF4-FFF2-40B4-BE49-F238E27FC236}">
                    <a16:creationId xmlns:a16="http://schemas.microsoft.com/office/drawing/2014/main" id="{E1F37105-F9FB-3932-064E-528AF6B3C0A7}"/>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71%</a:t>
                </a:r>
              </a:p>
            </p:txBody>
          </p:sp>
          <p:sp>
            <p:nvSpPr>
              <p:cNvPr id="87" name="Rectangle 86">
                <a:extLst>
                  <a:ext uri="{FF2B5EF4-FFF2-40B4-BE49-F238E27FC236}">
                    <a16:creationId xmlns:a16="http://schemas.microsoft.com/office/drawing/2014/main" id="{69D2B44F-2FD0-F9DF-509F-8752DC09A547}"/>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22</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10" name="Straight Connector 109">
              <a:extLst>
                <a:ext uri="{FF2B5EF4-FFF2-40B4-BE49-F238E27FC236}">
                  <a16:creationId xmlns:a16="http://schemas.microsoft.com/office/drawing/2014/main" id="{FDB19389-75DF-7445-3B2C-CBC735AFF8E2}"/>
                </a:ext>
              </a:extLst>
            </p:cNvPr>
            <p:cNvCxnSpPr>
              <a:cxnSpLocks/>
              <a:stCxn id="84" idx="0"/>
              <a:endCxn id="84"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FDC51C9B-9512-951C-71CA-70212C4806DD}"/>
              </a:ext>
            </a:extLst>
          </p:cNvPr>
          <p:cNvGrpSpPr/>
          <p:nvPr/>
        </p:nvGrpSpPr>
        <p:grpSpPr>
          <a:xfrm>
            <a:off x="9453555" y="663623"/>
            <a:ext cx="1013795" cy="528590"/>
            <a:chOff x="8189657" y="828723"/>
            <a:chExt cx="1065509" cy="528590"/>
          </a:xfrm>
        </p:grpSpPr>
        <p:sp>
          <p:nvSpPr>
            <p:cNvPr id="120" name="Rectangle: Rounded Corners 119">
              <a:extLst>
                <a:ext uri="{FF2B5EF4-FFF2-40B4-BE49-F238E27FC236}">
                  <a16:creationId xmlns:a16="http://schemas.microsoft.com/office/drawing/2014/main" id="{B05E64ED-8136-86D7-1051-78D93C422FA2}"/>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25" name="Group 124">
              <a:extLst>
                <a:ext uri="{FF2B5EF4-FFF2-40B4-BE49-F238E27FC236}">
                  <a16:creationId xmlns:a16="http://schemas.microsoft.com/office/drawing/2014/main" id="{87F70546-090C-091C-2539-C6D8FC4AC32C}"/>
                </a:ext>
              </a:extLst>
            </p:cNvPr>
            <p:cNvGrpSpPr/>
            <p:nvPr/>
          </p:nvGrpSpPr>
          <p:grpSpPr>
            <a:xfrm>
              <a:off x="8256809" y="878813"/>
              <a:ext cx="931205" cy="428410"/>
              <a:chOff x="8256810" y="862680"/>
              <a:chExt cx="931205" cy="428410"/>
            </a:xfrm>
          </p:grpSpPr>
          <p:sp>
            <p:nvSpPr>
              <p:cNvPr id="140" name="Rectangle 139">
                <a:extLst>
                  <a:ext uri="{FF2B5EF4-FFF2-40B4-BE49-F238E27FC236}">
                    <a16:creationId xmlns:a16="http://schemas.microsoft.com/office/drawing/2014/main" id="{987414A3-D298-8CD7-61F8-47E92618F218}"/>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60%</a:t>
                </a:r>
              </a:p>
            </p:txBody>
          </p:sp>
          <p:sp>
            <p:nvSpPr>
              <p:cNvPr id="141" name="Rectangle 140">
                <a:extLst>
                  <a:ext uri="{FF2B5EF4-FFF2-40B4-BE49-F238E27FC236}">
                    <a16:creationId xmlns:a16="http://schemas.microsoft.com/office/drawing/2014/main" id="{95D6E607-3A47-244E-4054-5E203A80935D}"/>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27</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26" name="Straight Connector 125">
              <a:extLst>
                <a:ext uri="{FF2B5EF4-FFF2-40B4-BE49-F238E27FC236}">
                  <a16:creationId xmlns:a16="http://schemas.microsoft.com/office/drawing/2014/main" id="{D24BB9C4-6940-5C92-BE77-5C2A2CD0F993}"/>
                </a:ext>
              </a:extLst>
            </p:cNvPr>
            <p:cNvCxnSpPr>
              <a:cxnSpLocks/>
              <a:stCxn id="120" idx="0"/>
              <a:endCxn id="120"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4D82943D-F086-ACF4-8557-3B5980620282}"/>
              </a:ext>
            </a:extLst>
          </p:cNvPr>
          <p:cNvGrpSpPr/>
          <p:nvPr/>
        </p:nvGrpSpPr>
        <p:grpSpPr>
          <a:xfrm>
            <a:off x="10630073" y="663623"/>
            <a:ext cx="1013795" cy="528590"/>
            <a:chOff x="8189657" y="828723"/>
            <a:chExt cx="1065509" cy="528590"/>
          </a:xfrm>
        </p:grpSpPr>
        <p:sp>
          <p:nvSpPr>
            <p:cNvPr id="143" name="Rectangle: Rounded Corners 142">
              <a:extLst>
                <a:ext uri="{FF2B5EF4-FFF2-40B4-BE49-F238E27FC236}">
                  <a16:creationId xmlns:a16="http://schemas.microsoft.com/office/drawing/2014/main" id="{EAD083B6-9415-1146-C650-56B1E2586CA6}"/>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44" name="Group 143">
              <a:extLst>
                <a:ext uri="{FF2B5EF4-FFF2-40B4-BE49-F238E27FC236}">
                  <a16:creationId xmlns:a16="http://schemas.microsoft.com/office/drawing/2014/main" id="{4925C3F3-15BE-B607-84FF-546775975425}"/>
                </a:ext>
              </a:extLst>
            </p:cNvPr>
            <p:cNvGrpSpPr/>
            <p:nvPr/>
          </p:nvGrpSpPr>
          <p:grpSpPr>
            <a:xfrm>
              <a:off x="8256809" y="878813"/>
              <a:ext cx="931205" cy="428410"/>
              <a:chOff x="8256810" y="862680"/>
              <a:chExt cx="931205" cy="428410"/>
            </a:xfrm>
          </p:grpSpPr>
          <p:sp>
            <p:nvSpPr>
              <p:cNvPr id="148" name="Rectangle 147">
                <a:extLst>
                  <a:ext uri="{FF2B5EF4-FFF2-40B4-BE49-F238E27FC236}">
                    <a16:creationId xmlns:a16="http://schemas.microsoft.com/office/drawing/2014/main" id="{7C6278E8-EC6E-A980-4C83-09C95F8A451E}"/>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58%</a:t>
                </a:r>
              </a:p>
            </p:txBody>
          </p:sp>
          <p:sp>
            <p:nvSpPr>
              <p:cNvPr id="149" name="Rectangle 148">
                <a:extLst>
                  <a:ext uri="{FF2B5EF4-FFF2-40B4-BE49-F238E27FC236}">
                    <a16:creationId xmlns:a16="http://schemas.microsoft.com/office/drawing/2014/main" id="{C481A74F-FA6D-D935-1FC9-5105A9BC5E9C}"/>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18</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45" name="Straight Connector 144">
              <a:extLst>
                <a:ext uri="{FF2B5EF4-FFF2-40B4-BE49-F238E27FC236}">
                  <a16:creationId xmlns:a16="http://schemas.microsoft.com/office/drawing/2014/main" id="{929810CD-3743-D8C9-CD47-E3A5D034D301}"/>
                </a:ext>
              </a:extLst>
            </p:cNvPr>
            <p:cNvCxnSpPr>
              <a:cxnSpLocks/>
              <a:stCxn id="143" idx="0"/>
              <a:endCxn id="143"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sp>
        <p:nvSpPr>
          <p:cNvPr id="153" name="Rectangle: Rounded Corners 152">
            <a:extLst>
              <a:ext uri="{FF2B5EF4-FFF2-40B4-BE49-F238E27FC236}">
                <a16:creationId xmlns:a16="http://schemas.microsoft.com/office/drawing/2014/main" id="{FCC1D853-D0BD-0317-2602-B9C47C7961BF}"/>
              </a:ext>
            </a:extLst>
          </p:cNvPr>
          <p:cNvSpPr/>
          <p:nvPr/>
        </p:nvSpPr>
        <p:spPr>
          <a:xfrm>
            <a:off x="9708453" y="1699824"/>
            <a:ext cx="504000" cy="360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6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cxnSp>
        <p:nvCxnSpPr>
          <p:cNvPr id="155" name="Straight Connector 154">
            <a:extLst>
              <a:ext uri="{FF2B5EF4-FFF2-40B4-BE49-F238E27FC236}">
                <a16:creationId xmlns:a16="http://schemas.microsoft.com/office/drawing/2014/main" id="{AC0710C3-FC3C-CAFD-8128-E23F9627AFB3}"/>
              </a:ext>
            </a:extLst>
          </p:cNvPr>
          <p:cNvCxnSpPr/>
          <p:nvPr/>
        </p:nvCxnSpPr>
        <p:spPr>
          <a:xfrm>
            <a:off x="8153400" y="5686245"/>
            <a:ext cx="36141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3AB7A30-3D9E-49C9-BBBD-4516062D56F7}"/>
              </a:ext>
            </a:extLst>
          </p:cNvPr>
          <p:cNvSpPr/>
          <p:nvPr/>
        </p:nvSpPr>
        <p:spPr>
          <a:xfrm>
            <a:off x="10588986" y="1272158"/>
            <a:ext cx="1013795" cy="159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r"/>
            <a:r>
              <a:rPr lang="fr-FR" sz="800" i="1" noProof="0" dirty="0">
                <a:solidFill>
                  <a:schemeClr val="bg1"/>
                </a:solidFill>
                <a:latin typeface="Aptos" panose="020B0004020202020204" pitchFamily="34" charset="0"/>
                <a:ea typeface="Lato" panose="020F0502020204030203" pitchFamily="34" charset="0"/>
                <a:cs typeface="Lato" panose="020F0502020204030203" pitchFamily="34" charset="0"/>
              </a:rPr>
              <a:t>Estimations internes</a:t>
            </a:r>
          </a:p>
        </p:txBody>
      </p:sp>
      <p:sp>
        <p:nvSpPr>
          <p:cNvPr id="7" name="Rectangle 6">
            <a:extLst>
              <a:ext uri="{FF2B5EF4-FFF2-40B4-BE49-F238E27FC236}">
                <a16:creationId xmlns:a16="http://schemas.microsoft.com/office/drawing/2014/main" id="{55C6C388-F6A4-DC16-31D0-90A6922812F1}"/>
              </a:ext>
            </a:extLst>
          </p:cNvPr>
          <p:cNvSpPr/>
          <p:nvPr/>
        </p:nvSpPr>
        <p:spPr>
          <a:xfrm>
            <a:off x="800680" y="1482619"/>
            <a:ext cx="6926902" cy="486783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Comprendre l’environnement concurrentiel</a:t>
            </a:r>
          </a:p>
        </p:txBody>
      </p:sp>
    </p:spTree>
    <p:extLst>
      <p:ext uri="{BB962C8B-B14F-4D97-AF65-F5344CB8AC3E}">
        <p14:creationId xmlns:p14="http://schemas.microsoft.com/office/powerpoint/2010/main" val="61406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4D572-FD6A-E356-399E-F5494405E1F3}"/>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7FB810D1-711D-581B-1C50-7F4F22025162}"/>
              </a:ext>
            </a:extLst>
          </p:cNvPr>
          <p:cNvSpPr/>
          <p:nvPr/>
        </p:nvSpPr>
        <p:spPr>
          <a:xfrm>
            <a:off x="0" y="1"/>
            <a:ext cx="12192000" cy="2744156"/>
          </a:xfrm>
          <a:prstGeom prst="rect">
            <a:avLst/>
          </a:prstGeom>
          <a:blipFill>
            <a:blip r:embed="rId4"/>
            <a:stretch>
              <a:fillRect t="-48594" b="-5874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aphicFrame>
        <p:nvGraphicFramePr>
          <p:cNvPr id="16" name="think-cell data - do not delete" hidden="1">
            <a:extLst>
              <a:ext uri="{FF2B5EF4-FFF2-40B4-BE49-F238E27FC236}">
                <a16:creationId xmlns:a16="http://schemas.microsoft.com/office/drawing/2014/main" id="{9E26DFC7-F1CB-AAD8-362C-9751AC66AE8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4" progId="TCLayout.ActiveDocument.1">
                  <p:embed/>
                </p:oleObj>
              </mc:Choice>
              <mc:Fallback>
                <p:oleObj name="think-cell Slide" r:id="rId5" imgW="473" imgH="474" progId="TCLayout.ActiveDocument.1">
                  <p:embed/>
                  <p:pic>
                    <p:nvPicPr>
                      <p:cNvPr id="16" name="think-cell data - do not delete" hidden="1">
                        <a:extLst>
                          <a:ext uri="{FF2B5EF4-FFF2-40B4-BE49-F238E27FC236}">
                            <a16:creationId xmlns:a16="http://schemas.microsoft.com/office/drawing/2014/main" id="{F185F17A-BA52-EF97-365B-513F5238E33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FF8C977F-114F-BB84-EE29-2671D63A34C4}"/>
              </a:ext>
            </a:extLst>
          </p:cNvPr>
          <p:cNvSpPr/>
          <p:nvPr/>
        </p:nvSpPr>
        <p:spPr>
          <a:xfrm>
            <a:off x="0" y="1"/>
            <a:ext cx="12192000" cy="2744156"/>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6864FFC3-D511-A5D2-A6F6-68D5B0FF99C4}"/>
              </a:ext>
            </a:extLst>
          </p:cNvPr>
          <p:cNvSpPr/>
          <p:nvPr/>
        </p:nvSpPr>
        <p:spPr>
          <a:xfrm>
            <a:off x="8153400" y="1"/>
            <a:ext cx="3614107" cy="6493932"/>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2" name="Rectangle: Rounded Corners 1">
            <a:extLst>
              <a:ext uri="{FF2B5EF4-FFF2-40B4-BE49-F238E27FC236}">
                <a16:creationId xmlns:a16="http://schemas.microsoft.com/office/drawing/2014/main" id="{F440E96A-0789-2955-D183-1B397BBC7363}"/>
              </a:ext>
            </a:extLst>
          </p:cNvPr>
          <p:cNvSpPr/>
          <p:nvPr/>
        </p:nvSpPr>
        <p:spPr>
          <a:xfrm>
            <a:off x="532932" y="611296"/>
            <a:ext cx="238716"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A1402F14-C70C-ED83-3292-7A0D7D69E645}"/>
              </a:ext>
            </a:extLst>
          </p:cNvPr>
          <p:cNvSpPr txBox="1"/>
          <p:nvPr/>
        </p:nvSpPr>
        <p:spPr>
          <a:xfrm>
            <a:off x="917078" y="246278"/>
            <a:ext cx="5235405" cy="340735"/>
          </a:xfrm>
          <a:prstGeom prst="rect">
            <a:avLst/>
          </a:prstGeom>
          <a:noFill/>
        </p:spPr>
        <p:txBody>
          <a:bodyPr wrap="square" lIns="0" tIns="46800" rIns="0" bIns="46800" rtlCol="0" anchor="ctr">
            <a:spAutoFit/>
          </a:bodyPr>
          <a:lstStyle/>
          <a:p>
            <a:r>
              <a:rPr lang="fr-FR" sz="1600" noProof="0" dirty="0">
                <a:solidFill>
                  <a:schemeClr val="bg1"/>
                </a:solidFill>
                <a:latin typeface="Aptos" panose="020B0004020202020204" pitchFamily="34" charset="0"/>
              </a:rPr>
              <a:t>Fiche rayon</a:t>
            </a:r>
          </a:p>
        </p:txBody>
      </p:sp>
      <p:sp>
        <p:nvSpPr>
          <p:cNvPr id="6" name="TextBox 5">
            <a:extLst>
              <a:ext uri="{FF2B5EF4-FFF2-40B4-BE49-F238E27FC236}">
                <a16:creationId xmlns:a16="http://schemas.microsoft.com/office/drawing/2014/main" id="{930F5908-F228-6DAC-6C7C-2AA2F3EAB434}"/>
              </a:ext>
            </a:extLst>
          </p:cNvPr>
          <p:cNvSpPr txBox="1"/>
          <p:nvPr/>
        </p:nvSpPr>
        <p:spPr>
          <a:xfrm>
            <a:off x="917078" y="492774"/>
            <a:ext cx="7401422" cy="463846"/>
          </a:xfrm>
          <a:prstGeom prst="rect">
            <a:avLst/>
          </a:prstGeom>
          <a:noFill/>
        </p:spPr>
        <p:txBody>
          <a:bodyPr wrap="square" lIns="0" tIns="46800" rIns="0" bIns="46800" rtlCol="0" anchor="t">
            <a:spAutoFit/>
          </a:bodyPr>
          <a:lstStyle/>
          <a:p>
            <a:r>
              <a:rPr lang="fr-FR" sz="2400" b="1" noProof="0" dirty="0">
                <a:solidFill>
                  <a:schemeClr val="bg1"/>
                </a:solidFill>
                <a:latin typeface="Aptos Black" panose="020B0004020202020204" pitchFamily="34" charset="0"/>
              </a:rPr>
              <a:t>Spiritueux</a:t>
            </a:r>
          </a:p>
        </p:txBody>
      </p:sp>
      <p:grpSp>
        <p:nvGrpSpPr>
          <p:cNvPr id="36" name="Group 35">
            <a:extLst>
              <a:ext uri="{FF2B5EF4-FFF2-40B4-BE49-F238E27FC236}">
                <a16:creationId xmlns:a16="http://schemas.microsoft.com/office/drawing/2014/main" id="{4050B66E-D59C-7B16-4700-854617B87DFC}"/>
              </a:ext>
            </a:extLst>
          </p:cNvPr>
          <p:cNvGrpSpPr/>
          <p:nvPr/>
        </p:nvGrpSpPr>
        <p:grpSpPr>
          <a:xfrm>
            <a:off x="8468218" y="1891576"/>
            <a:ext cx="2923102" cy="930810"/>
            <a:chOff x="8468218" y="1963494"/>
            <a:chExt cx="2923102" cy="930810"/>
          </a:xfrm>
        </p:grpSpPr>
        <p:sp>
          <p:nvSpPr>
            <p:cNvPr id="20" name="Rectangle 19">
              <a:extLst>
                <a:ext uri="{FF2B5EF4-FFF2-40B4-BE49-F238E27FC236}">
                  <a16:creationId xmlns:a16="http://schemas.microsoft.com/office/drawing/2014/main" id="{D35C279A-E307-B545-53C9-0A8EF723A14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Capacités limitées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la durée de vieillissement et les appellations contrôlées réduisent la capacité de production. (</a:t>
              </a:r>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Enjeux BFR)</a:t>
              </a:r>
            </a:p>
          </p:txBody>
        </p:sp>
        <p:pic>
          <p:nvPicPr>
            <p:cNvPr id="35" name="Graphic 34" descr="Badge Follow with solid fill">
              <a:extLst>
                <a:ext uri="{FF2B5EF4-FFF2-40B4-BE49-F238E27FC236}">
                  <a16:creationId xmlns:a16="http://schemas.microsoft.com/office/drawing/2014/main" id="{74A9FFA6-876E-2726-DB94-6B48EE0E3A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sp>
        <p:nvSpPr>
          <p:cNvPr id="9" name="Star: 10 Points 8">
            <a:extLst>
              <a:ext uri="{FF2B5EF4-FFF2-40B4-BE49-F238E27FC236}">
                <a16:creationId xmlns:a16="http://schemas.microsoft.com/office/drawing/2014/main" id="{DCD49FB5-E9E2-E882-9C18-86723F669320}"/>
              </a:ext>
            </a:extLst>
          </p:cNvPr>
          <p:cNvSpPr/>
          <p:nvPr/>
        </p:nvSpPr>
        <p:spPr>
          <a:xfrm>
            <a:off x="10020926" y="5929517"/>
            <a:ext cx="291504" cy="291504"/>
          </a:xfrm>
          <a:prstGeom prst="star1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dirty="0">
                <a:solidFill>
                  <a:schemeClr val="tx1">
                    <a:lumMod val="90000"/>
                    <a:lumOff val="10000"/>
                  </a:schemeClr>
                </a:solidFill>
                <a:latin typeface="Aptos Black" panose="020B0004020202020204" pitchFamily="34" charset="0"/>
                <a:ea typeface="Lato" panose="020F0502020204030203" pitchFamily="34" charset="0"/>
                <a:cs typeface="Lato" panose="020F0502020204030203" pitchFamily="34" charset="0"/>
              </a:rPr>
              <a:t>%</a:t>
            </a:r>
          </a:p>
        </p:txBody>
      </p:sp>
      <p:sp>
        <p:nvSpPr>
          <p:cNvPr id="10" name="Rectangle 9">
            <a:extLst>
              <a:ext uri="{FF2B5EF4-FFF2-40B4-BE49-F238E27FC236}">
                <a16:creationId xmlns:a16="http://schemas.microsoft.com/office/drawing/2014/main" id="{091A1FCE-3A60-A976-DBC1-1C857626D2F3}"/>
              </a:ext>
            </a:extLst>
          </p:cNvPr>
          <p:cNvSpPr/>
          <p:nvPr/>
        </p:nvSpPr>
        <p:spPr>
          <a:xfrm>
            <a:off x="10443332" y="5800083"/>
            <a:ext cx="1273238"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18% / 28%</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Marge d’exploitation</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06" name="Group 105">
            <a:extLst>
              <a:ext uri="{FF2B5EF4-FFF2-40B4-BE49-F238E27FC236}">
                <a16:creationId xmlns:a16="http://schemas.microsoft.com/office/drawing/2014/main" id="{BA07BB82-E1CC-EF4A-531C-C0EFA2B645BE}"/>
              </a:ext>
            </a:extLst>
          </p:cNvPr>
          <p:cNvGrpSpPr/>
          <p:nvPr/>
        </p:nvGrpSpPr>
        <p:grpSpPr>
          <a:xfrm>
            <a:off x="8354326" y="5959649"/>
            <a:ext cx="261372" cy="261372"/>
            <a:chOff x="2086429" y="1946627"/>
            <a:chExt cx="337037" cy="337037"/>
          </a:xfrm>
        </p:grpSpPr>
        <p:sp>
          <p:nvSpPr>
            <p:cNvPr id="12" name="Rectangle: Rounded Corners 11">
              <a:extLst>
                <a:ext uri="{FF2B5EF4-FFF2-40B4-BE49-F238E27FC236}">
                  <a16:creationId xmlns:a16="http://schemas.microsoft.com/office/drawing/2014/main" id="{E1ABD3D2-0531-BB65-8313-111C9053F73E}"/>
                </a:ext>
              </a:extLst>
            </p:cNvPr>
            <p:cNvSpPr/>
            <p:nvPr/>
          </p:nvSpPr>
          <p:spPr>
            <a:xfrm>
              <a:off x="2086429" y="1946627"/>
              <a:ext cx="337037" cy="337037"/>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4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pic>
          <p:nvPicPr>
            <p:cNvPr id="23" name="Graphic 22" descr="Minimize with solid fill">
              <a:extLst>
                <a:ext uri="{FF2B5EF4-FFF2-40B4-BE49-F238E27FC236}">
                  <a16:creationId xmlns:a16="http://schemas.microsoft.com/office/drawing/2014/main" id="{A68835B9-4613-2622-9578-7626A9B48C7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39428" y="1999626"/>
              <a:ext cx="231038" cy="231038"/>
            </a:xfrm>
            <a:prstGeom prst="rect">
              <a:avLst/>
            </a:prstGeom>
          </p:spPr>
        </p:pic>
      </p:grpSp>
      <p:sp>
        <p:nvSpPr>
          <p:cNvPr id="32" name="Rectangle 31">
            <a:extLst>
              <a:ext uri="{FF2B5EF4-FFF2-40B4-BE49-F238E27FC236}">
                <a16:creationId xmlns:a16="http://schemas.microsoft.com/office/drawing/2014/main" id="{39D78B0F-427F-3411-2F37-A60D435B7CDC}"/>
              </a:ext>
            </a:extLst>
          </p:cNvPr>
          <p:cNvSpPr/>
          <p:nvPr/>
        </p:nvSpPr>
        <p:spPr>
          <a:xfrm>
            <a:off x="8762020" y="5800083"/>
            <a:ext cx="1184209"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-1,2 / -2,2</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Élasticité prix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51" name="Rectangle 150">
            <a:extLst>
              <a:ext uri="{FF2B5EF4-FFF2-40B4-BE49-F238E27FC236}">
                <a16:creationId xmlns:a16="http://schemas.microsoft.com/office/drawing/2014/main" id="{09161FF7-73E6-A2F6-5DEC-14D2D544DF48}"/>
              </a:ext>
            </a:extLst>
          </p:cNvPr>
          <p:cNvSpPr/>
          <p:nvPr/>
        </p:nvSpPr>
        <p:spPr>
          <a:xfrm>
            <a:off x="9240608" y="1372370"/>
            <a:ext cx="1439690" cy="3034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Enjeux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22" name="Rectangle 121">
            <a:extLst>
              <a:ext uri="{FF2B5EF4-FFF2-40B4-BE49-F238E27FC236}">
                <a16:creationId xmlns:a16="http://schemas.microsoft.com/office/drawing/2014/main" id="{C6768798-0C6F-9E87-AA5E-599F2CB9A478}"/>
              </a:ext>
            </a:extLst>
          </p:cNvPr>
          <p:cNvSpPr/>
          <p:nvPr/>
        </p:nvSpPr>
        <p:spPr>
          <a:xfrm>
            <a:off x="532931" y="6405694"/>
            <a:ext cx="11234575"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Source : SAMMPO | Dépenses de consommation : INSEE | Indices prix : EUROSTAT | Niveaux de marge / élasticité : Estimation basées sur les rapports financiers et les normes INSEE.</a:t>
            </a:r>
          </a:p>
        </p:txBody>
      </p:sp>
      <p:grpSp>
        <p:nvGrpSpPr>
          <p:cNvPr id="131" name="Group 130">
            <a:extLst>
              <a:ext uri="{FF2B5EF4-FFF2-40B4-BE49-F238E27FC236}">
                <a16:creationId xmlns:a16="http://schemas.microsoft.com/office/drawing/2014/main" id="{BED575DC-B969-E657-1DDA-EFC3DB546723}"/>
              </a:ext>
            </a:extLst>
          </p:cNvPr>
          <p:cNvGrpSpPr/>
          <p:nvPr/>
        </p:nvGrpSpPr>
        <p:grpSpPr>
          <a:xfrm>
            <a:off x="8468218" y="2965866"/>
            <a:ext cx="2923102" cy="930810"/>
            <a:chOff x="8468218" y="1963494"/>
            <a:chExt cx="2923102" cy="930810"/>
          </a:xfrm>
        </p:grpSpPr>
        <p:sp>
          <p:nvSpPr>
            <p:cNvPr id="132" name="Rectangle 131">
              <a:extLst>
                <a:ext uri="{FF2B5EF4-FFF2-40B4-BE49-F238E27FC236}">
                  <a16:creationId xmlns:a16="http://schemas.microsoft.com/office/drawing/2014/main" id="{9CD02D71-B057-CF62-978A-994A7D474D0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Volumes en danger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Le contexte géopolitique ainsi que les changements des habitudes d’achat nuisent aux ventes.</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3" name="Graphic 132" descr="Badge Follow with solid fill">
              <a:extLst>
                <a:ext uri="{FF2B5EF4-FFF2-40B4-BE49-F238E27FC236}">
                  <a16:creationId xmlns:a16="http://schemas.microsoft.com/office/drawing/2014/main" id="{BB874DCC-B74D-DA32-D92B-C0FC2ED08CC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4" name="Group 133">
            <a:extLst>
              <a:ext uri="{FF2B5EF4-FFF2-40B4-BE49-F238E27FC236}">
                <a16:creationId xmlns:a16="http://schemas.microsoft.com/office/drawing/2014/main" id="{09E6E9DE-D19A-8ECA-1EB7-1983B7265C9F}"/>
              </a:ext>
            </a:extLst>
          </p:cNvPr>
          <p:cNvGrpSpPr/>
          <p:nvPr/>
        </p:nvGrpSpPr>
        <p:grpSpPr>
          <a:xfrm>
            <a:off x="8468218" y="4040156"/>
            <a:ext cx="2923102" cy="930810"/>
            <a:chOff x="8468218" y="1963494"/>
            <a:chExt cx="2923102" cy="930810"/>
          </a:xfrm>
        </p:grpSpPr>
        <p:sp>
          <p:nvSpPr>
            <p:cNvPr id="135" name="Rectangle 134">
              <a:extLst>
                <a:ext uri="{FF2B5EF4-FFF2-40B4-BE49-F238E27FC236}">
                  <a16:creationId xmlns:a16="http://schemas.microsoft.com/office/drawing/2014/main" id="{6D67D78F-C997-5559-B630-390805AD29DF}"/>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Réglementation et taxes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Le rayon subit des contraintes marketing additionnelles, et un coût fiscal plus élevé (accise).</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6" name="Graphic 135" descr="Badge Follow with solid fill">
              <a:extLst>
                <a:ext uri="{FF2B5EF4-FFF2-40B4-BE49-F238E27FC236}">
                  <a16:creationId xmlns:a16="http://schemas.microsoft.com/office/drawing/2014/main" id="{631C0F32-8BA7-1B2B-A318-DA6EE4176E9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7" name="Group 136">
            <a:extLst>
              <a:ext uri="{FF2B5EF4-FFF2-40B4-BE49-F238E27FC236}">
                <a16:creationId xmlns:a16="http://schemas.microsoft.com/office/drawing/2014/main" id="{4E9C2B82-3C6C-252F-5218-25E29467CCBC}"/>
              </a:ext>
            </a:extLst>
          </p:cNvPr>
          <p:cNvGrpSpPr/>
          <p:nvPr/>
        </p:nvGrpSpPr>
        <p:grpSpPr>
          <a:xfrm>
            <a:off x="8468218" y="5114447"/>
            <a:ext cx="2923102" cy="454976"/>
            <a:chOff x="8468218" y="1963494"/>
            <a:chExt cx="2923102" cy="454976"/>
          </a:xfrm>
        </p:grpSpPr>
        <p:sp>
          <p:nvSpPr>
            <p:cNvPr id="138" name="Rectangle 137">
              <a:extLst>
                <a:ext uri="{FF2B5EF4-FFF2-40B4-BE49-F238E27FC236}">
                  <a16:creationId xmlns:a16="http://schemas.microsoft.com/office/drawing/2014/main" id="{278D6839-1138-EB08-51E2-439599620E13}"/>
                </a:ext>
              </a:extLst>
            </p:cNvPr>
            <p:cNvSpPr/>
            <p:nvPr/>
          </p:nvSpPr>
          <p:spPr>
            <a:xfrm>
              <a:off x="8814791" y="1968552"/>
              <a:ext cx="2576529"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Forte saisonnalité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Impose des prévisions de ventes précises.</a:t>
              </a:r>
            </a:p>
          </p:txBody>
        </p:sp>
        <p:pic>
          <p:nvPicPr>
            <p:cNvPr id="139" name="Graphic 138" descr="Badge Follow with solid fill">
              <a:extLst>
                <a:ext uri="{FF2B5EF4-FFF2-40B4-BE49-F238E27FC236}">
                  <a16:creationId xmlns:a16="http://schemas.microsoft.com/office/drawing/2014/main" id="{D5B802D1-30C4-EC7A-9ED8-58D377F56A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16" name="Group 115">
            <a:extLst>
              <a:ext uri="{FF2B5EF4-FFF2-40B4-BE49-F238E27FC236}">
                <a16:creationId xmlns:a16="http://schemas.microsoft.com/office/drawing/2014/main" id="{7DA4CB68-C62C-547D-0CB7-99CBB1FEE968}"/>
              </a:ext>
            </a:extLst>
          </p:cNvPr>
          <p:cNvGrpSpPr/>
          <p:nvPr/>
        </p:nvGrpSpPr>
        <p:grpSpPr>
          <a:xfrm>
            <a:off x="8277038" y="663623"/>
            <a:ext cx="1013795" cy="528590"/>
            <a:chOff x="8189657" y="828723"/>
            <a:chExt cx="1065509" cy="528590"/>
          </a:xfrm>
        </p:grpSpPr>
        <p:sp>
          <p:nvSpPr>
            <p:cNvPr id="84" name="Rectangle: Rounded Corners 83">
              <a:extLst>
                <a:ext uri="{FF2B5EF4-FFF2-40B4-BE49-F238E27FC236}">
                  <a16:creationId xmlns:a16="http://schemas.microsoft.com/office/drawing/2014/main" id="{AF3170BE-5065-7387-072E-F33E30FC22C3}"/>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14" name="Group 113">
              <a:extLst>
                <a:ext uri="{FF2B5EF4-FFF2-40B4-BE49-F238E27FC236}">
                  <a16:creationId xmlns:a16="http://schemas.microsoft.com/office/drawing/2014/main" id="{16E0C63A-E19B-8E1D-DEAA-209C90D5F585}"/>
                </a:ext>
              </a:extLst>
            </p:cNvPr>
            <p:cNvGrpSpPr/>
            <p:nvPr/>
          </p:nvGrpSpPr>
          <p:grpSpPr>
            <a:xfrm>
              <a:off x="8256809" y="878813"/>
              <a:ext cx="931205" cy="428410"/>
              <a:chOff x="8256810" y="862680"/>
              <a:chExt cx="931205" cy="428410"/>
            </a:xfrm>
          </p:grpSpPr>
          <p:sp>
            <p:nvSpPr>
              <p:cNvPr id="86" name="Rectangle 85">
                <a:extLst>
                  <a:ext uri="{FF2B5EF4-FFF2-40B4-BE49-F238E27FC236}">
                    <a16:creationId xmlns:a16="http://schemas.microsoft.com/office/drawing/2014/main" id="{5777A32B-6C90-24DB-A989-5ACB474335DB}"/>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71%</a:t>
                </a:r>
              </a:p>
            </p:txBody>
          </p:sp>
          <p:sp>
            <p:nvSpPr>
              <p:cNvPr id="87" name="Rectangle 86">
                <a:extLst>
                  <a:ext uri="{FF2B5EF4-FFF2-40B4-BE49-F238E27FC236}">
                    <a16:creationId xmlns:a16="http://schemas.microsoft.com/office/drawing/2014/main" id="{CF50AEF8-E235-3A0F-B39B-16B28AF03031}"/>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22</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10" name="Straight Connector 109">
              <a:extLst>
                <a:ext uri="{FF2B5EF4-FFF2-40B4-BE49-F238E27FC236}">
                  <a16:creationId xmlns:a16="http://schemas.microsoft.com/office/drawing/2014/main" id="{DAA204B6-FA05-B4A0-5D25-807AD16C9A5D}"/>
                </a:ext>
              </a:extLst>
            </p:cNvPr>
            <p:cNvCxnSpPr>
              <a:cxnSpLocks/>
              <a:stCxn id="84" idx="0"/>
              <a:endCxn id="84"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AF840FB3-5265-C4FD-5750-D02059D27197}"/>
              </a:ext>
            </a:extLst>
          </p:cNvPr>
          <p:cNvGrpSpPr/>
          <p:nvPr/>
        </p:nvGrpSpPr>
        <p:grpSpPr>
          <a:xfrm>
            <a:off x="9453555" y="663623"/>
            <a:ext cx="1013795" cy="528590"/>
            <a:chOff x="8189657" y="828723"/>
            <a:chExt cx="1065509" cy="528590"/>
          </a:xfrm>
        </p:grpSpPr>
        <p:sp>
          <p:nvSpPr>
            <p:cNvPr id="120" name="Rectangle: Rounded Corners 119">
              <a:extLst>
                <a:ext uri="{FF2B5EF4-FFF2-40B4-BE49-F238E27FC236}">
                  <a16:creationId xmlns:a16="http://schemas.microsoft.com/office/drawing/2014/main" id="{B20AB5A8-A556-5A77-092D-D1DAC58317A9}"/>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25" name="Group 124">
              <a:extLst>
                <a:ext uri="{FF2B5EF4-FFF2-40B4-BE49-F238E27FC236}">
                  <a16:creationId xmlns:a16="http://schemas.microsoft.com/office/drawing/2014/main" id="{51F30B38-79EA-B1A4-1CB4-7F65147F986D}"/>
                </a:ext>
              </a:extLst>
            </p:cNvPr>
            <p:cNvGrpSpPr/>
            <p:nvPr/>
          </p:nvGrpSpPr>
          <p:grpSpPr>
            <a:xfrm>
              <a:off x="8256809" y="878813"/>
              <a:ext cx="931205" cy="428410"/>
              <a:chOff x="8256810" y="862680"/>
              <a:chExt cx="931205" cy="428410"/>
            </a:xfrm>
          </p:grpSpPr>
          <p:sp>
            <p:nvSpPr>
              <p:cNvPr id="140" name="Rectangle 139">
                <a:extLst>
                  <a:ext uri="{FF2B5EF4-FFF2-40B4-BE49-F238E27FC236}">
                    <a16:creationId xmlns:a16="http://schemas.microsoft.com/office/drawing/2014/main" id="{45BE97C8-9E7F-DA83-53D5-D0A52DCB092B}"/>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60%</a:t>
                </a:r>
              </a:p>
            </p:txBody>
          </p:sp>
          <p:sp>
            <p:nvSpPr>
              <p:cNvPr id="141" name="Rectangle 140">
                <a:extLst>
                  <a:ext uri="{FF2B5EF4-FFF2-40B4-BE49-F238E27FC236}">
                    <a16:creationId xmlns:a16="http://schemas.microsoft.com/office/drawing/2014/main" id="{923C6DEB-12A6-E21E-7008-C5F591E0A55B}"/>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27</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26" name="Straight Connector 125">
              <a:extLst>
                <a:ext uri="{FF2B5EF4-FFF2-40B4-BE49-F238E27FC236}">
                  <a16:creationId xmlns:a16="http://schemas.microsoft.com/office/drawing/2014/main" id="{BE04E56B-7C14-5C88-2857-F2BC08622564}"/>
                </a:ext>
              </a:extLst>
            </p:cNvPr>
            <p:cNvCxnSpPr>
              <a:cxnSpLocks/>
              <a:stCxn id="120" idx="0"/>
              <a:endCxn id="120"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0C88C2BE-9A88-596C-A6E2-1DCA3499FF6C}"/>
              </a:ext>
            </a:extLst>
          </p:cNvPr>
          <p:cNvGrpSpPr/>
          <p:nvPr/>
        </p:nvGrpSpPr>
        <p:grpSpPr>
          <a:xfrm>
            <a:off x="10630073" y="663623"/>
            <a:ext cx="1013795" cy="528590"/>
            <a:chOff x="8189657" y="828723"/>
            <a:chExt cx="1065509" cy="528590"/>
          </a:xfrm>
        </p:grpSpPr>
        <p:sp>
          <p:nvSpPr>
            <p:cNvPr id="143" name="Rectangle: Rounded Corners 142">
              <a:extLst>
                <a:ext uri="{FF2B5EF4-FFF2-40B4-BE49-F238E27FC236}">
                  <a16:creationId xmlns:a16="http://schemas.microsoft.com/office/drawing/2014/main" id="{5BB054D4-0FA8-C10C-6264-43D7761597CD}"/>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44" name="Group 143">
              <a:extLst>
                <a:ext uri="{FF2B5EF4-FFF2-40B4-BE49-F238E27FC236}">
                  <a16:creationId xmlns:a16="http://schemas.microsoft.com/office/drawing/2014/main" id="{2F79BB3E-0D4C-18A4-DE6A-EEB474DF90DE}"/>
                </a:ext>
              </a:extLst>
            </p:cNvPr>
            <p:cNvGrpSpPr/>
            <p:nvPr/>
          </p:nvGrpSpPr>
          <p:grpSpPr>
            <a:xfrm>
              <a:off x="8256809" y="878813"/>
              <a:ext cx="931205" cy="428410"/>
              <a:chOff x="8256810" y="862680"/>
              <a:chExt cx="931205" cy="428410"/>
            </a:xfrm>
          </p:grpSpPr>
          <p:sp>
            <p:nvSpPr>
              <p:cNvPr id="148" name="Rectangle 147">
                <a:extLst>
                  <a:ext uri="{FF2B5EF4-FFF2-40B4-BE49-F238E27FC236}">
                    <a16:creationId xmlns:a16="http://schemas.microsoft.com/office/drawing/2014/main" id="{E3188EE8-A2DC-042B-085D-52B875418EAF}"/>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58%</a:t>
                </a:r>
              </a:p>
            </p:txBody>
          </p:sp>
          <p:sp>
            <p:nvSpPr>
              <p:cNvPr id="149" name="Rectangle 148">
                <a:extLst>
                  <a:ext uri="{FF2B5EF4-FFF2-40B4-BE49-F238E27FC236}">
                    <a16:creationId xmlns:a16="http://schemas.microsoft.com/office/drawing/2014/main" id="{054BC65D-8905-5905-297A-F7C24DD6B9CD}"/>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18</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45" name="Straight Connector 144">
              <a:extLst>
                <a:ext uri="{FF2B5EF4-FFF2-40B4-BE49-F238E27FC236}">
                  <a16:creationId xmlns:a16="http://schemas.microsoft.com/office/drawing/2014/main" id="{395C0429-495A-B3A5-AF1E-41C4BC1ABF31}"/>
                </a:ext>
              </a:extLst>
            </p:cNvPr>
            <p:cNvCxnSpPr>
              <a:cxnSpLocks/>
              <a:stCxn id="143" idx="0"/>
              <a:endCxn id="143"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sp>
        <p:nvSpPr>
          <p:cNvPr id="153" name="Rectangle: Rounded Corners 152">
            <a:extLst>
              <a:ext uri="{FF2B5EF4-FFF2-40B4-BE49-F238E27FC236}">
                <a16:creationId xmlns:a16="http://schemas.microsoft.com/office/drawing/2014/main" id="{461BF262-E0D3-D30F-C45B-8A0CF53C8A65}"/>
              </a:ext>
            </a:extLst>
          </p:cNvPr>
          <p:cNvSpPr/>
          <p:nvPr/>
        </p:nvSpPr>
        <p:spPr>
          <a:xfrm>
            <a:off x="9708453" y="1699824"/>
            <a:ext cx="504000" cy="360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6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cxnSp>
        <p:nvCxnSpPr>
          <p:cNvPr id="155" name="Straight Connector 154">
            <a:extLst>
              <a:ext uri="{FF2B5EF4-FFF2-40B4-BE49-F238E27FC236}">
                <a16:creationId xmlns:a16="http://schemas.microsoft.com/office/drawing/2014/main" id="{BD1ADBF5-DFBF-406D-677C-53BD121FEFE2}"/>
              </a:ext>
            </a:extLst>
          </p:cNvPr>
          <p:cNvCxnSpPr/>
          <p:nvPr/>
        </p:nvCxnSpPr>
        <p:spPr>
          <a:xfrm>
            <a:off x="8153400" y="5686245"/>
            <a:ext cx="36141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D6644C3-236B-C7B8-9930-7C79A0801D1E}"/>
              </a:ext>
            </a:extLst>
          </p:cNvPr>
          <p:cNvSpPr/>
          <p:nvPr/>
        </p:nvSpPr>
        <p:spPr>
          <a:xfrm>
            <a:off x="10588986" y="1272158"/>
            <a:ext cx="1013795" cy="159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r"/>
            <a:r>
              <a:rPr lang="fr-FR" sz="800" i="1" noProof="0" dirty="0">
                <a:solidFill>
                  <a:schemeClr val="bg1"/>
                </a:solidFill>
                <a:latin typeface="Aptos" panose="020B0004020202020204" pitchFamily="34" charset="0"/>
                <a:ea typeface="Lato" panose="020F0502020204030203" pitchFamily="34" charset="0"/>
                <a:cs typeface="Lato" panose="020F0502020204030203" pitchFamily="34" charset="0"/>
              </a:rPr>
              <a:t>Estimations internes</a:t>
            </a:r>
          </a:p>
        </p:txBody>
      </p:sp>
      <p:sp>
        <p:nvSpPr>
          <p:cNvPr id="7" name="Rectangle 6">
            <a:extLst>
              <a:ext uri="{FF2B5EF4-FFF2-40B4-BE49-F238E27FC236}">
                <a16:creationId xmlns:a16="http://schemas.microsoft.com/office/drawing/2014/main" id="{5AF02555-9D80-5BD1-C207-391F42EA210A}"/>
              </a:ext>
            </a:extLst>
          </p:cNvPr>
          <p:cNvSpPr/>
          <p:nvPr/>
        </p:nvSpPr>
        <p:spPr>
          <a:xfrm>
            <a:off x="605332" y="1545796"/>
            <a:ext cx="10785983" cy="486783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Observer l’évolution des ventes (globale et par distributeur)</a:t>
            </a:r>
          </a:p>
        </p:txBody>
      </p:sp>
    </p:spTree>
    <p:extLst>
      <p:ext uri="{BB962C8B-B14F-4D97-AF65-F5344CB8AC3E}">
        <p14:creationId xmlns:p14="http://schemas.microsoft.com/office/powerpoint/2010/main" val="49880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E5475-8FA6-4351-A8F1-8BB410333804}"/>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9F5CFFCF-AE63-60A2-CC9C-E5638EC9A49C}"/>
              </a:ext>
            </a:extLst>
          </p:cNvPr>
          <p:cNvSpPr/>
          <p:nvPr/>
        </p:nvSpPr>
        <p:spPr>
          <a:xfrm>
            <a:off x="-1" y="1403928"/>
            <a:ext cx="12192001" cy="49853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pic>
        <p:nvPicPr>
          <p:cNvPr id="30" name="Picture 29" descr="Documents on desk">
            <a:extLst>
              <a:ext uri="{FF2B5EF4-FFF2-40B4-BE49-F238E27FC236}">
                <a16:creationId xmlns:a16="http://schemas.microsoft.com/office/drawing/2014/main" id="{A26B8A68-5122-19C9-0828-FBBC967147CC}"/>
              </a:ext>
            </a:extLst>
          </p:cNvPr>
          <p:cNvPicPr>
            <a:picLocks noChangeAspect="1"/>
          </p:cNvPicPr>
          <p:nvPr/>
        </p:nvPicPr>
        <p:blipFill>
          <a:blip r:embed="rId3">
            <a:extLst>
              <a:ext uri="{28A0092B-C50C-407E-A947-70E740481C1C}">
                <a14:useLocalDpi xmlns:a14="http://schemas.microsoft.com/office/drawing/2010/main" val="0"/>
              </a:ext>
            </a:extLst>
          </a:blip>
          <a:srcRect l="40689"/>
          <a:stretch/>
        </p:blipFill>
        <p:spPr>
          <a:xfrm>
            <a:off x="6095998" y="0"/>
            <a:ext cx="6096002" cy="6858000"/>
          </a:xfrm>
          <a:prstGeom prst="rect">
            <a:avLst/>
          </a:prstGeom>
        </p:spPr>
      </p:pic>
      <p:sp>
        <p:nvSpPr>
          <p:cNvPr id="5" name="Rectangle 4">
            <a:extLst>
              <a:ext uri="{FF2B5EF4-FFF2-40B4-BE49-F238E27FC236}">
                <a16:creationId xmlns:a16="http://schemas.microsoft.com/office/drawing/2014/main" id="{59C3A3AD-EA44-FACF-3E02-1BE8C7B982F1}"/>
              </a:ext>
            </a:extLst>
          </p:cNvPr>
          <p:cNvSpPr/>
          <p:nvPr/>
        </p:nvSpPr>
        <p:spPr>
          <a:xfrm>
            <a:off x="6096003" y="0"/>
            <a:ext cx="6095998" cy="6858000"/>
          </a:xfrm>
          <a:prstGeom prst="rect">
            <a:avLst/>
          </a:prstGeom>
          <a:solidFill>
            <a:srgbClr val="303237">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pSp>
        <p:nvGrpSpPr>
          <p:cNvPr id="3" name="Group 2">
            <a:extLst>
              <a:ext uri="{FF2B5EF4-FFF2-40B4-BE49-F238E27FC236}">
                <a16:creationId xmlns:a16="http://schemas.microsoft.com/office/drawing/2014/main" id="{2290A5F8-9622-DB8A-D73B-8332762FBD13}"/>
              </a:ext>
            </a:extLst>
          </p:cNvPr>
          <p:cNvGrpSpPr/>
          <p:nvPr/>
        </p:nvGrpSpPr>
        <p:grpSpPr>
          <a:xfrm>
            <a:off x="6594305" y="491349"/>
            <a:ext cx="5302520" cy="833178"/>
            <a:chOff x="6594305" y="491349"/>
            <a:chExt cx="5302520" cy="833178"/>
          </a:xfrm>
        </p:grpSpPr>
        <p:sp>
          <p:nvSpPr>
            <p:cNvPr id="14" name="TextBox 13">
              <a:extLst>
                <a:ext uri="{FF2B5EF4-FFF2-40B4-BE49-F238E27FC236}">
                  <a16:creationId xmlns:a16="http://schemas.microsoft.com/office/drawing/2014/main" id="{BCCC3AE5-5D92-F032-33B9-023F4B8B5122}"/>
                </a:ext>
              </a:extLst>
            </p:cNvPr>
            <p:cNvSpPr txBox="1"/>
            <p:nvPr/>
          </p:nvSpPr>
          <p:spPr>
            <a:xfrm>
              <a:off x="6988318" y="491349"/>
              <a:ext cx="4908507" cy="833178"/>
            </a:xfrm>
            <a:prstGeom prst="rect">
              <a:avLst/>
            </a:prstGeom>
            <a:noFill/>
          </p:spPr>
          <p:txBody>
            <a:bodyPr wrap="square" lIns="0" tIns="46800" rIns="0" bIns="46800" rtlCol="0" anchor="ctr">
              <a:spAutoFit/>
            </a:bodyPr>
            <a:lstStyle/>
            <a:p>
              <a:r>
                <a:rPr lang="fr-FR" sz="2400" b="1" noProof="0" dirty="0">
                  <a:solidFill>
                    <a:schemeClr val="bg1"/>
                  </a:solidFill>
                  <a:latin typeface="Aptos Black" panose="020B0004020202020204" pitchFamily="34" charset="0"/>
                </a:rPr>
                <a:t>Quels ont été les leviers de la croissance sur la période ?</a:t>
              </a:r>
              <a:endParaRPr lang="fr-FR" sz="2800" b="1" noProof="0" dirty="0">
                <a:solidFill>
                  <a:schemeClr val="accent1"/>
                </a:solidFill>
                <a:latin typeface="Aptos Black" panose="020B0004020202020204" pitchFamily="34" charset="0"/>
              </a:endParaRPr>
            </a:p>
          </p:txBody>
        </p:sp>
        <p:sp>
          <p:nvSpPr>
            <p:cNvPr id="15" name="Rectangle: Rounded Corners 14">
              <a:extLst>
                <a:ext uri="{FF2B5EF4-FFF2-40B4-BE49-F238E27FC236}">
                  <a16:creationId xmlns:a16="http://schemas.microsoft.com/office/drawing/2014/main" id="{8C6B1E95-2264-AF19-92BF-94FD0A306B36}"/>
                </a:ext>
              </a:extLst>
            </p:cNvPr>
            <p:cNvSpPr/>
            <p:nvPr/>
          </p:nvSpPr>
          <p:spPr>
            <a:xfrm>
              <a:off x="6594305" y="611296"/>
              <a:ext cx="226904"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pSp>
      <p:sp>
        <p:nvSpPr>
          <p:cNvPr id="8" name="Rectangle 7">
            <a:extLst>
              <a:ext uri="{FF2B5EF4-FFF2-40B4-BE49-F238E27FC236}">
                <a16:creationId xmlns:a16="http://schemas.microsoft.com/office/drawing/2014/main" id="{C7034C9D-BAE1-657E-B04B-D68EDD31CAFB}"/>
              </a:ext>
            </a:extLst>
          </p:cNvPr>
          <p:cNvSpPr/>
          <p:nvPr/>
        </p:nvSpPr>
        <p:spPr>
          <a:xfrm>
            <a:off x="532932" y="6405694"/>
            <a:ext cx="5395957"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noProof="0" dirty="0">
                <a:solidFill>
                  <a:schemeClr val="accent3"/>
                </a:solidFill>
                <a:latin typeface="Aptos" panose="020B0004020202020204" pitchFamily="34" charset="0"/>
                <a:ea typeface="Lato" panose="020F0502020204030203" pitchFamily="34" charset="0"/>
                <a:cs typeface="Lato" panose="020F0502020204030203" pitchFamily="34" charset="0"/>
              </a:rPr>
              <a:t>Source : SAMMPO | Étude du </a:t>
            </a:r>
            <a:r>
              <a:rPr lang="fr-FR" sz="1100" noProof="0" dirty="0" err="1">
                <a:solidFill>
                  <a:schemeClr val="accent3"/>
                </a:solidFill>
                <a:latin typeface="Aptos" panose="020B0004020202020204" pitchFamily="34" charset="0"/>
                <a:ea typeface="Lato" panose="020F0502020204030203" pitchFamily="34" charset="0"/>
                <a:cs typeface="Lato" panose="020F0502020204030203" pitchFamily="34" charset="0"/>
              </a:rPr>
              <a:t>sell</a:t>
            </a:r>
            <a:r>
              <a:rPr lang="fr-FR" sz="1100" dirty="0">
                <a:solidFill>
                  <a:schemeClr val="accent3"/>
                </a:solidFill>
                <a:latin typeface="Aptos" panose="020B0004020202020204" pitchFamily="34" charset="0"/>
                <a:ea typeface="Lato" panose="020F0502020204030203" pitchFamily="34" charset="0"/>
                <a:cs typeface="Lato" panose="020F0502020204030203" pitchFamily="34" charset="0"/>
              </a:rPr>
              <a:t>-out </a:t>
            </a:r>
            <a:r>
              <a:rPr lang="fr-FR" sz="1100" noProof="0" dirty="0">
                <a:solidFill>
                  <a:schemeClr val="accent3"/>
                </a:solidFill>
                <a:latin typeface="Aptos" panose="020B0004020202020204" pitchFamily="34" charset="0"/>
                <a:ea typeface="Lato" panose="020F0502020204030203" pitchFamily="34" charset="0"/>
                <a:cs typeface="Lato" panose="020F0502020204030203" pitchFamily="34" charset="0"/>
              </a:rPr>
              <a:t>au [Fin] – A001</a:t>
            </a:r>
          </a:p>
        </p:txBody>
      </p:sp>
      <p:sp>
        <p:nvSpPr>
          <p:cNvPr id="9" name="Rectangle: Rounded Corners 8">
            <a:extLst>
              <a:ext uri="{FF2B5EF4-FFF2-40B4-BE49-F238E27FC236}">
                <a16:creationId xmlns:a16="http://schemas.microsoft.com/office/drawing/2014/main" id="{6025FC8D-9BBD-7950-A22A-2133E82566D1}"/>
              </a:ext>
            </a:extLst>
          </p:cNvPr>
          <p:cNvSpPr/>
          <p:nvPr/>
        </p:nvSpPr>
        <p:spPr>
          <a:xfrm>
            <a:off x="532932" y="611296"/>
            <a:ext cx="226904" cy="2269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E08E3108-9DCA-B1F5-A9A6-91DEEFDE5C75}"/>
              </a:ext>
            </a:extLst>
          </p:cNvPr>
          <p:cNvSpPr txBox="1"/>
          <p:nvPr/>
        </p:nvSpPr>
        <p:spPr>
          <a:xfrm>
            <a:off x="898070" y="246278"/>
            <a:ext cx="4976355" cy="340735"/>
          </a:xfrm>
          <a:prstGeom prst="rect">
            <a:avLst/>
          </a:prstGeom>
          <a:noFill/>
        </p:spPr>
        <p:txBody>
          <a:bodyPr wrap="square" lIns="0" tIns="46800" rIns="0" bIns="46800" rtlCol="0" anchor="ctr">
            <a:spAutoFit/>
          </a:bodyPr>
          <a:lstStyle/>
          <a:p>
            <a:r>
              <a:rPr lang="fr-FR" sz="1600" noProof="0" dirty="0">
                <a:latin typeface="Aptos" panose="020B0004020202020204" pitchFamily="34" charset="0"/>
              </a:rPr>
              <a:t>Introduction</a:t>
            </a:r>
          </a:p>
        </p:txBody>
      </p:sp>
      <p:sp>
        <p:nvSpPr>
          <p:cNvPr id="12" name="TextBox 11">
            <a:extLst>
              <a:ext uri="{FF2B5EF4-FFF2-40B4-BE49-F238E27FC236}">
                <a16:creationId xmlns:a16="http://schemas.microsoft.com/office/drawing/2014/main" id="{86869692-C438-E7D5-CF18-C39F04B22BB9}"/>
              </a:ext>
            </a:extLst>
          </p:cNvPr>
          <p:cNvSpPr txBox="1"/>
          <p:nvPr/>
        </p:nvSpPr>
        <p:spPr>
          <a:xfrm>
            <a:off x="898070" y="492774"/>
            <a:ext cx="5030819" cy="833178"/>
          </a:xfrm>
          <a:prstGeom prst="rect">
            <a:avLst/>
          </a:prstGeom>
          <a:noFill/>
        </p:spPr>
        <p:txBody>
          <a:bodyPr wrap="square" lIns="0" tIns="46800" rIns="0" bIns="46800" rtlCol="0" anchor="t">
            <a:spAutoFit/>
          </a:bodyPr>
          <a:lstStyle/>
          <a:p>
            <a:r>
              <a:rPr lang="fr-FR" sz="2400" b="1" noProof="0" dirty="0">
                <a:latin typeface="Aptos Black" panose="020B0004020202020204" pitchFamily="34" charset="0"/>
              </a:rPr>
              <a:t>Évolution de l’activité de [Marque] entre [Début] et [Fin].</a:t>
            </a:r>
          </a:p>
        </p:txBody>
      </p:sp>
      <p:cxnSp>
        <p:nvCxnSpPr>
          <p:cNvPr id="369" name="Straight Connector 368">
            <a:extLst>
              <a:ext uri="{FF2B5EF4-FFF2-40B4-BE49-F238E27FC236}">
                <a16:creationId xmlns:a16="http://schemas.microsoft.com/office/drawing/2014/main" id="{0FB49D76-F9D1-9F3D-5577-891E0CB4A1A8}"/>
              </a:ext>
            </a:extLst>
          </p:cNvPr>
          <p:cNvCxnSpPr/>
          <p:nvPr/>
        </p:nvCxnSpPr>
        <p:spPr>
          <a:xfrm>
            <a:off x="7033808" y="1688702"/>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76B246A-690E-1F29-7CE8-52E3BD461755}"/>
              </a:ext>
            </a:extLst>
          </p:cNvPr>
          <p:cNvCxnSpPr/>
          <p:nvPr/>
        </p:nvCxnSpPr>
        <p:spPr>
          <a:xfrm>
            <a:off x="7033808" y="4039008"/>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83FC1C36-01DF-FF4C-8953-90E54AC663B2}"/>
              </a:ext>
            </a:extLst>
          </p:cNvPr>
          <p:cNvCxnSpPr/>
          <p:nvPr/>
        </p:nvCxnSpPr>
        <p:spPr>
          <a:xfrm>
            <a:off x="7033808" y="2863855"/>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82A840F-2444-DB92-A01C-64B039BAD592}"/>
              </a:ext>
            </a:extLst>
          </p:cNvPr>
          <p:cNvCxnSpPr/>
          <p:nvPr/>
        </p:nvCxnSpPr>
        <p:spPr>
          <a:xfrm>
            <a:off x="7033808" y="5214161"/>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6" name="Chart 25">
            <a:extLst>
              <a:ext uri="{FF2B5EF4-FFF2-40B4-BE49-F238E27FC236}">
                <a16:creationId xmlns:a16="http://schemas.microsoft.com/office/drawing/2014/main" id="{C654896A-AC77-ED8C-2880-D83B5CE1F281}"/>
              </a:ext>
            </a:extLst>
          </p:cNvPr>
          <p:cNvGraphicFramePr>
            <a:graphicFrameLocks/>
          </p:cNvGraphicFramePr>
          <p:nvPr>
            <p:extLst>
              <p:ext uri="{D42A27DB-BD31-4B8C-83A1-F6EECF244321}">
                <p14:modId xmlns:p14="http://schemas.microsoft.com/office/powerpoint/2010/main" val="4024601966"/>
              </p:ext>
            </p:extLst>
          </p:nvPr>
        </p:nvGraphicFramePr>
        <p:xfrm>
          <a:off x="339485" y="1786010"/>
          <a:ext cx="5417028" cy="4221223"/>
        </p:xfrm>
        <a:graphic>
          <a:graphicData uri="http://schemas.openxmlformats.org/drawingml/2006/chart">
            <c:chart xmlns:c="http://schemas.openxmlformats.org/drawingml/2006/chart" xmlns:r="http://schemas.openxmlformats.org/officeDocument/2006/relationships" r:id="rId4"/>
          </a:graphicData>
        </a:graphic>
      </p:graphicFrame>
      <p:grpSp>
        <p:nvGrpSpPr>
          <p:cNvPr id="38" name="Group 37">
            <a:extLst>
              <a:ext uri="{FF2B5EF4-FFF2-40B4-BE49-F238E27FC236}">
                <a16:creationId xmlns:a16="http://schemas.microsoft.com/office/drawing/2014/main" id="{8B2285D0-6510-3953-50E2-E869C449075E}"/>
              </a:ext>
            </a:extLst>
          </p:cNvPr>
          <p:cNvGrpSpPr/>
          <p:nvPr/>
        </p:nvGrpSpPr>
        <p:grpSpPr>
          <a:xfrm>
            <a:off x="6944677" y="5478572"/>
            <a:ext cx="4822971" cy="646331"/>
            <a:chOff x="6944677" y="5314863"/>
            <a:chExt cx="4822971" cy="646331"/>
          </a:xfrm>
        </p:grpSpPr>
        <p:sp>
          <p:nvSpPr>
            <p:cNvPr id="7" name="TextBox 6">
              <a:extLst>
                <a:ext uri="{FF2B5EF4-FFF2-40B4-BE49-F238E27FC236}">
                  <a16:creationId xmlns:a16="http://schemas.microsoft.com/office/drawing/2014/main" id="{1D251D62-F50A-5F23-B454-CA49CA5710AB}"/>
                </a:ext>
              </a:extLst>
            </p:cNvPr>
            <p:cNvSpPr txBox="1"/>
            <p:nvPr/>
          </p:nvSpPr>
          <p:spPr>
            <a:xfrm>
              <a:off x="7613641" y="5314863"/>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mix produit</a:t>
              </a:r>
            </a:p>
            <a:p>
              <a:r>
                <a:rPr lang="fr-FR" sz="1400" dirty="0">
                  <a:solidFill>
                    <a:schemeClr val="bg1">
                      <a:lumMod val="95000"/>
                    </a:schemeClr>
                  </a:solidFill>
                  <a:latin typeface="Aptos" panose="020B0004020202020204" pitchFamily="34" charset="0"/>
                </a:rPr>
                <a:t>Impact de l’évolution du mix produit sur le chiffre d’affaires de la marque.</a:t>
              </a:r>
              <a:endParaRPr lang="fr-FR" sz="1400" noProof="0" dirty="0">
                <a:solidFill>
                  <a:schemeClr val="bg1">
                    <a:lumMod val="95000"/>
                  </a:schemeClr>
                </a:solidFill>
                <a:latin typeface="Aptos" panose="020B0004020202020204" pitchFamily="34" charset="0"/>
              </a:endParaRPr>
            </a:p>
          </p:txBody>
        </p:sp>
        <p:pic>
          <p:nvPicPr>
            <p:cNvPr id="29" name="Graphic 28" descr="Inventory with solid fill">
              <a:extLst>
                <a:ext uri="{FF2B5EF4-FFF2-40B4-BE49-F238E27FC236}">
                  <a16:creationId xmlns:a16="http://schemas.microsoft.com/office/drawing/2014/main" id="{AFCBB7C5-5F14-2381-F680-07A747A124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44677" y="5393416"/>
              <a:ext cx="489224" cy="489224"/>
            </a:xfrm>
            <a:prstGeom prst="rect">
              <a:avLst/>
            </a:prstGeom>
          </p:spPr>
        </p:pic>
      </p:grpSp>
      <p:grpSp>
        <p:nvGrpSpPr>
          <p:cNvPr id="39" name="Group 38">
            <a:extLst>
              <a:ext uri="{FF2B5EF4-FFF2-40B4-BE49-F238E27FC236}">
                <a16:creationId xmlns:a16="http://schemas.microsoft.com/office/drawing/2014/main" id="{E8B0966B-7AA5-12B5-5226-9CF49253CC8C}"/>
              </a:ext>
            </a:extLst>
          </p:cNvPr>
          <p:cNvGrpSpPr/>
          <p:nvPr/>
        </p:nvGrpSpPr>
        <p:grpSpPr>
          <a:xfrm>
            <a:off x="6950849" y="4303419"/>
            <a:ext cx="4816799" cy="646331"/>
            <a:chOff x="6950849" y="4214612"/>
            <a:chExt cx="4816799" cy="646331"/>
          </a:xfrm>
        </p:grpSpPr>
        <p:sp>
          <p:nvSpPr>
            <p:cNvPr id="52" name="TextBox 51">
              <a:extLst>
                <a:ext uri="{FF2B5EF4-FFF2-40B4-BE49-F238E27FC236}">
                  <a16:creationId xmlns:a16="http://schemas.microsoft.com/office/drawing/2014/main" id="{9833E1D4-9BB3-F748-3FE5-35FE6E48E98B}"/>
                </a:ext>
              </a:extLst>
            </p:cNvPr>
            <p:cNvSpPr txBox="1"/>
            <p:nvPr/>
          </p:nvSpPr>
          <p:spPr>
            <a:xfrm>
              <a:off x="7613641" y="4214612"/>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prix des produits</a:t>
              </a:r>
            </a:p>
            <a:p>
              <a:r>
                <a:rPr lang="fr-FR" sz="1400" dirty="0">
                  <a:solidFill>
                    <a:schemeClr val="bg1">
                      <a:lumMod val="95000"/>
                    </a:schemeClr>
                  </a:solidFill>
                  <a:latin typeface="Aptos" panose="020B0004020202020204" pitchFamily="34" charset="0"/>
                </a:rPr>
                <a:t>Impact de l’évolution du prix moyen de chaque produit proposé par [Marque].</a:t>
              </a:r>
              <a:endParaRPr lang="fr-FR" sz="1400" noProof="0" dirty="0">
                <a:solidFill>
                  <a:schemeClr val="bg1">
                    <a:lumMod val="95000"/>
                  </a:schemeClr>
                </a:solidFill>
                <a:latin typeface="Aptos" panose="020B0004020202020204" pitchFamily="34" charset="0"/>
              </a:endParaRPr>
            </a:p>
          </p:txBody>
        </p:sp>
        <p:pic>
          <p:nvPicPr>
            <p:cNvPr id="32" name="Graphic 31" descr="Tag with solid fill">
              <a:extLst>
                <a:ext uri="{FF2B5EF4-FFF2-40B4-BE49-F238E27FC236}">
                  <a16:creationId xmlns:a16="http://schemas.microsoft.com/office/drawing/2014/main" id="{8C42AFFB-B900-A5CC-BE5D-57958FA7ACF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50849" y="4296525"/>
              <a:ext cx="476880" cy="476880"/>
            </a:xfrm>
            <a:prstGeom prst="rect">
              <a:avLst/>
            </a:prstGeom>
          </p:spPr>
        </p:pic>
      </p:grpSp>
      <p:grpSp>
        <p:nvGrpSpPr>
          <p:cNvPr id="40" name="Group 39">
            <a:extLst>
              <a:ext uri="{FF2B5EF4-FFF2-40B4-BE49-F238E27FC236}">
                <a16:creationId xmlns:a16="http://schemas.microsoft.com/office/drawing/2014/main" id="{8B3CF04C-1CF8-39ED-3BDA-BA48A9D7581E}"/>
              </a:ext>
            </a:extLst>
          </p:cNvPr>
          <p:cNvGrpSpPr/>
          <p:nvPr/>
        </p:nvGrpSpPr>
        <p:grpSpPr>
          <a:xfrm>
            <a:off x="6949229" y="3128266"/>
            <a:ext cx="4818419" cy="646331"/>
            <a:chOff x="6949229" y="3115262"/>
            <a:chExt cx="4818419" cy="646331"/>
          </a:xfrm>
        </p:grpSpPr>
        <p:sp>
          <p:nvSpPr>
            <p:cNvPr id="24" name="TextBox 23">
              <a:extLst>
                <a:ext uri="{FF2B5EF4-FFF2-40B4-BE49-F238E27FC236}">
                  <a16:creationId xmlns:a16="http://schemas.microsoft.com/office/drawing/2014/main" id="{07D6A547-1EA7-C94C-D4F8-ED2E4691EC85}"/>
                </a:ext>
              </a:extLst>
            </p:cNvPr>
            <p:cNvSpPr txBox="1"/>
            <p:nvPr/>
          </p:nvSpPr>
          <p:spPr>
            <a:xfrm>
              <a:off x="7613641" y="3115262"/>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volume par magasin</a:t>
              </a:r>
            </a:p>
            <a:p>
              <a:r>
                <a:rPr lang="fr-FR" sz="1400" dirty="0">
                  <a:solidFill>
                    <a:schemeClr val="bg1">
                      <a:lumMod val="95000"/>
                    </a:schemeClr>
                  </a:solidFill>
                  <a:latin typeface="Aptos" panose="020B0004020202020204" pitchFamily="34" charset="0"/>
                </a:rPr>
                <a:t>Impact de l’évolution des volumes vendus par magasin adressé (mise en avant, promo, etc.).</a:t>
              </a:r>
              <a:endParaRPr lang="fr-FR" sz="1400" noProof="0" dirty="0">
                <a:solidFill>
                  <a:schemeClr val="bg1">
                    <a:lumMod val="95000"/>
                  </a:schemeClr>
                </a:solidFill>
                <a:latin typeface="Aptos" panose="020B0004020202020204" pitchFamily="34" charset="0"/>
              </a:endParaRPr>
            </a:p>
          </p:txBody>
        </p:sp>
        <p:pic>
          <p:nvPicPr>
            <p:cNvPr id="35" name="Graphic 34" descr="Grocery bag with solid fill">
              <a:extLst>
                <a:ext uri="{FF2B5EF4-FFF2-40B4-BE49-F238E27FC236}">
                  <a16:creationId xmlns:a16="http://schemas.microsoft.com/office/drawing/2014/main" id="{85A11E05-2418-90BB-779A-2F206A9C60C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49229" y="3196960"/>
              <a:ext cx="480120" cy="480120"/>
            </a:xfrm>
            <a:prstGeom prst="rect">
              <a:avLst/>
            </a:prstGeom>
          </p:spPr>
        </p:pic>
      </p:grpSp>
      <p:grpSp>
        <p:nvGrpSpPr>
          <p:cNvPr id="41" name="Group 40">
            <a:extLst>
              <a:ext uri="{FF2B5EF4-FFF2-40B4-BE49-F238E27FC236}">
                <a16:creationId xmlns:a16="http://schemas.microsoft.com/office/drawing/2014/main" id="{160DA80A-9837-1DF9-9F0C-507266B3DF41}"/>
              </a:ext>
            </a:extLst>
          </p:cNvPr>
          <p:cNvGrpSpPr/>
          <p:nvPr/>
        </p:nvGrpSpPr>
        <p:grpSpPr>
          <a:xfrm>
            <a:off x="6951649" y="1953113"/>
            <a:ext cx="4815999" cy="646331"/>
            <a:chOff x="6951649" y="2016810"/>
            <a:chExt cx="4815999" cy="646331"/>
          </a:xfrm>
        </p:grpSpPr>
        <p:sp>
          <p:nvSpPr>
            <p:cNvPr id="209" name="TextBox 208">
              <a:extLst>
                <a:ext uri="{FF2B5EF4-FFF2-40B4-BE49-F238E27FC236}">
                  <a16:creationId xmlns:a16="http://schemas.microsoft.com/office/drawing/2014/main" id="{FAF1837C-D56A-55FD-C19E-703FD7838E81}"/>
                </a:ext>
              </a:extLst>
            </p:cNvPr>
            <p:cNvSpPr txBox="1"/>
            <p:nvPr/>
          </p:nvSpPr>
          <p:spPr>
            <a:xfrm>
              <a:off x="7613641" y="2016810"/>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distribution</a:t>
              </a:r>
            </a:p>
            <a:p>
              <a:r>
                <a:rPr lang="fr-FR" sz="1400" dirty="0">
                  <a:solidFill>
                    <a:schemeClr val="bg1">
                      <a:lumMod val="95000"/>
                    </a:schemeClr>
                  </a:solidFill>
                  <a:latin typeface="Aptos" panose="020B0004020202020204" pitchFamily="34" charset="0"/>
                </a:rPr>
                <a:t>Impact de l’évolution de la distribution numérique sur les ventes de [Marque] entre N-1 et N.</a:t>
              </a:r>
              <a:endParaRPr lang="fr-FR" sz="1400" noProof="0" dirty="0">
                <a:solidFill>
                  <a:schemeClr val="bg1">
                    <a:lumMod val="95000"/>
                  </a:schemeClr>
                </a:solidFill>
                <a:latin typeface="Aptos" panose="020B0004020202020204" pitchFamily="34" charset="0"/>
              </a:endParaRPr>
            </a:p>
          </p:txBody>
        </p:sp>
        <p:pic>
          <p:nvPicPr>
            <p:cNvPr id="37" name="Graphic 36" descr="Store with solid fill">
              <a:extLst>
                <a:ext uri="{FF2B5EF4-FFF2-40B4-BE49-F238E27FC236}">
                  <a16:creationId xmlns:a16="http://schemas.microsoft.com/office/drawing/2014/main" id="{438F6DA1-4147-C134-6714-F7EC3ABE67D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51649" y="2102335"/>
              <a:ext cx="475280" cy="475280"/>
            </a:xfrm>
            <a:prstGeom prst="rect">
              <a:avLst/>
            </a:prstGeom>
          </p:spPr>
        </p:pic>
      </p:grpSp>
      <p:cxnSp>
        <p:nvCxnSpPr>
          <p:cNvPr id="42" name="Straight Connector 41">
            <a:extLst>
              <a:ext uri="{FF2B5EF4-FFF2-40B4-BE49-F238E27FC236}">
                <a16:creationId xmlns:a16="http://schemas.microsoft.com/office/drawing/2014/main" id="{5196F5A2-B1AD-2A8E-E928-E6E27DDF9C18}"/>
              </a:ext>
            </a:extLst>
          </p:cNvPr>
          <p:cNvCxnSpPr>
            <a:cxnSpLocks/>
          </p:cNvCxnSpPr>
          <p:nvPr/>
        </p:nvCxnSpPr>
        <p:spPr>
          <a:xfrm>
            <a:off x="7033808" y="6389316"/>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706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0C72-C3A1-9BCF-2C08-F584D7D92CE1}"/>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6BC21C56-98AF-198E-A414-25244B45734A}"/>
              </a:ext>
            </a:extLst>
          </p:cNvPr>
          <p:cNvSpPr/>
          <p:nvPr/>
        </p:nvSpPr>
        <p:spPr>
          <a:xfrm>
            <a:off x="0" y="1"/>
            <a:ext cx="12192000" cy="2744156"/>
          </a:xfrm>
          <a:prstGeom prst="rect">
            <a:avLst/>
          </a:prstGeom>
          <a:blipFill>
            <a:blip r:embed="rId4"/>
            <a:stretch>
              <a:fillRect t="-48594" b="-5874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aphicFrame>
        <p:nvGraphicFramePr>
          <p:cNvPr id="16" name="think-cell data - do not delete" hidden="1">
            <a:extLst>
              <a:ext uri="{FF2B5EF4-FFF2-40B4-BE49-F238E27FC236}">
                <a16:creationId xmlns:a16="http://schemas.microsoft.com/office/drawing/2014/main" id="{3A7075AB-3D0F-C0AC-1556-C7B448B9A00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4" progId="TCLayout.ActiveDocument.1">
                  <p:embed/>
                </p:oleObj>
              </mc:Choice>
              <mc:Fallback>
                <p:oleObj name="think-cell Slide" r:id="rId5" imgW="473" imgH="474" progId="TCLayout.ActiveDocument.1">
                  <p:embed/>
                  <p:pic>
                    <p:nvPicPr>
                      <p:cNvPr id="16" name="think-cell data - do not delete" hidden="1">
                        <a:extLst>
                          <a:ext uri="{FF2B5EF4-FFF2-40B4-BE49-F238E27FC236}">
                            <a16:creationId xmlns:a16="http://schemas.microsoft.com/office/drawing/2014/main" id="{F185F17A-BA52-EF97-365B-513F5238E33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D199151D-97BE-FFC8-5FE9-BFAAE05BC77F}"/>
              </a:ext>
            </a:extLst>
          </p:cNvPr>
          <p:cNvSpPr/>
          <p:nvPr/>
        </p:nvSpPr>
        <p:spPr>
          <a:xfrm>
            <a:off x="0" y="1"/>
            <a:ext cx="12192000" cy="2744156"/>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7C7ADE12-2DDB-E9E3-3FE3-2C3E3381CCA7}"/>
              </a:ext>
            </a:extLst>
          </p:cNvPr>
          <p:cNvSpPr/>
          <p:nvPr/>
        </p:nvSpPr>
        <p:spPr>
          <a:xfrm>
            <a:off x="8153400" y="1"/>
            <a:ext cx="3614107" cy="6493932"/>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2" name="Rectangle: Rounded Corners 1">
            <a:extLst>
              <a:ext uri="{FF2B5EF4-FFF2-40B4-BE49-F238E27FC236}">
                <a16:creationId xmlns:a16="http://schemas.microsoft.com/office/drawing/2014/main" id="{85888681-4527-049E-5C5C-F695FF3934EA}"/>
              </a:ext>
            </a:extLst>
          </p:cNvPr>
          <p:cNvSpPr/>
          <p:nvPr/>
        </p:nvSpPr>
        <p:spPr>
          <a:xfrm>
            <a:off x="532932" y="611296"/>
            <a:ext cx="238716"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B47251A2-FEBF-81B1-54C9-BD37F389FDC0}"/>
              </a:ext>
            </a:extLst>
          </p:cNvPr>
          <p:cNvSpPr txBox="1"/>
          <p:nvPr/>
        </p:nvSpPr>
        <p:spPr>
          <a:xfrm>
            <a:off x="917078" y="246278"/>
            <a:ext cx="5235405" cy="340735"/>
          </a:xfrm>
          <a:prstGeom prst="rect">
            <a:avLst/>
          </a:prstGeom>
          <a:noFill/>
        </p:spPr>
        <p:txBody>
          <a:bodyPr wrap="square" lIns="0" tIns="46800" rIns="0" bIns="46800" rtlCol="0" anchor="ctr">
            <a:spAutoFit/>
          </a:bodyPr>
          <a:lstStyle/>
          <a:p>
            <a:r>
              <a:rPr lang="fr-FR" sz="1600" noProof="0" dirty="0">
                <a:solidFill>
                  <a:schemeClr val="bg1"/>
                </a:solidFill>
                <a:latin typeface="Aptos" panose="020B0004020202020204" pitchFamily="34" charset="0"/>
              </a:rPr>
              <a:t>Fiche rayon</a:t>
            </a:r>
          </a:p>
        </p:txBody>
      </p:sp>
      <p:sp>
        <p:nvSpPr>
          <p:cNvPr id="6" name="TextBox 5">
            <a:extLst>
              <a:ext uri="{FF2B5EF4-FFF2-40B4-BE49-F238E27FC236}">
                <a16:creationId xmlns:a16="http://schemas.microsoft.com/office/drawing/2014/main" id="{AB2CBFD8-6EF6-39F8-C627-F76A7322D9D2}"/>
              </a:ext>
            </a:extLst>
          </p:cNvPr>
          <p:cNvSpPr txBox="1"/>
          <p:nvPr/>
        </p:nvSpPr>
        <p:spPr>
          <a:xfrm>
            <a:off x="917078" y="492774"/>
            <a:ext cx="7401422" cy="463846"/>
          </a:xfrm>
          <a:prstGeom prst="rect">
            <a:avLst/>
          </a:prstGeom>
          <a:noFill/>
        </p:spPr>
        <p:txBody>
          <a:bodyPr wrap="square" lIns="0" tIns="46800" rIns="0" bIns="46800" rtlCol="0" anchor="t">
            <a:spAutoFit/>
          </a:bodyPr>
          <a:lstStyle/>
          <a:p>
            <a:r>
              <a:rPr lang="fr-FR" sz="2400" b="1" noProof="0" dirty="0">
                <a:solidFill>
                  <a:schemeClr val="bg1"/>
                </a:solidFill>
                <a:latin typeface="Aptos Black" panose="020B0004020202020204" pitchFamily="34" charset="0"/>
              </a:rPr>
              <a:t>Spiritueux</a:t>
            </a:r>
          </a:p>
        </p:txBody>
      </p:sp>
      <p:grpSp>
        <p:nvGrpSpPr>
          <p:cNvPr id="36" name="Group 35">
            <a:extLst>
              <a:ext uri="{FF2B5EF4-FFF2-40B4-BE49-F238E27FC236}">
                <a16:creationId xmlns:a16="http://schemas.microsoft.com/office/drawing/2014/main" id="{677F8178-534F-6C22-7355-E728AC0486D3}"/>
              </a:ext>
            </a:extLst>
          </p:cNvPr>
          <p:cNvGrpSpPr/>
          <p:nvPr/>
        </p:nvGrpSpPr>
        <p:grpSpPr>
          <a:xfrm>
            <a:off x="8468218" y="1891576"/>
            <a:ext cx="2923102" cy="930810"/>
            <a:chOff x="8468218" y="1963494"/>
            <a:chExt cx="2923102" cy="930810"/>
          </a:xfrm>
        </p:grpSpPr>
        <p:sp>
          <p:nvSpPr>
            <p:cNvPr id="20" name="Rectangle 19">
              <a:extLst>
                <a:ext uri="{FF2B5EF4-FFF2-40B4-BE49-F238E27FC236}">
                  <a16:creationId xmlns:a16="http://schemas.microsoft.com/office/drawing/2014/main" id="{FA78A582-89FB-56EA-5A28-D205719D61C9}"/>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Capacités limitées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la durée de vieillissement et les appellations contrôlées réduisent la capacité de production. (</a:t>
              </a:r>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Enjeux BFR)</a:t>
              </a:r>
            </a:p>
          </p:txBody>
        </p:sp>
        <p:pic>
          <p:nvPicPr>
            <p:cNvPr id="35" name="Graphic 34" descr="Badge Follow with solid fill">
              <a:extLst>
                <a:ext uri="{FF2B5EF4-FFF2-40B4-BE49-F238E27FC236}">
                  <a16:creationId xmlns:a16="http://schemas.microsoft.com/office/drawing/2014/main" id="{603BB755-758A-86ED-DFF4-7C435F189A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sp>
        <p:nvSpPr>
          <p:cNvPr id="9" name="Star: 10 Points 8">
            <a:extLst>
              <a:ext uri="{FF2B5EF4-FFF2-40B4-BE49-F238E27FC236}">
                <a16:creationId xmlns:a16="http://schemas.microsoft.com/office/drawing/2014/main" id="{657F493A-F15D-BCFF-004A-BB27287F51F1}"/>
              </a:ext>
            </a:extLst>
          </p:cNvPr>
          <p:cNvSpPr/>
          <p:nvPr/>
        </p:nvSpPr>
        <p:spPr>
          <a:xfrm>
            <a:off x="10020926" y="5929517"/>
            <a:ext cx="291504" cy="291504"/>
          </a:xfrm>
          <a:prstGeom prst="star1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dirty="0">
                <a:solidFill>
                  <a:schemeClr val="tx1">
                    <a:lumMod val="90000"/>
                    <a:lumOff val="10000"/>
                  </a:schemeClr>
                </a:solidFill>
                <a:latin typeface="Aptos Black" panose="020B0004020202020204" pitchFamily="34" charset="0"/>
                <a:ea typeface="Lato" panose="020F0502020204030203" pitchFamily="34" charset="0"/>
                <a:cs typeface="Lato" panose="020F0502020204030203" pitchFamily="34" charset="0"/>
              </a:rPr>
              <a:t>%</a:t>
            </a:r>
          </a:p>
        </p:txBody>
      </p:sp>
      <p:sp>
        <p:nvSpPr>
          <p:cNvPr id="10" name="Rectangle 9">
            <a:extLst>
              <a:ext uri="{FF2B5EF4-FFF2-40B4-BE49-F238E27FC236}">
                <a16:creationId xmlns:a16="http://schemas.microsoft.com/office/drawing/2014/main" id="{A4B6F97F-7258-3D6A-298A-D8E4BDF3FBF6}"/>
              </a:ext>
            </a:extLst>
          </p:cNvPr>
          <p:cNvSpPr/>
          <p:nvPr/>
        </p:nvSpPr>
        <p:spPr>
          <a:xfrm>
            <a:off x="10443332" y="5800083"/>
            <a:ext cx="1273238"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18% / 28%</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Marge d’exploitation</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06" name="Group 105">
            <a:extLst>
              <a:ext uri="{FF2B5EF4-FFF2-40B4-BE49-F238E27FC236}">
                <a16:creationId xmlns:a16="http://schemas.microsoft.com/office/drawing/2014/main" id="{29F0652B-5A2C-8BC4-D587-F8C90D3C05F3}"/>
              </a:ext>
            </a:extLst>
          </p:cNvPr>
          <p:cNvGrpSpPr/>
          <p:nvPr/>
        </p:nvGrpSpPr>
        <p:grpSpPr>
          <a:xfrm>
            <a:off x="8354326" y="5959649"/>
            <a:ext cx="261372" cy="261372"/>
            <a:chOff x="2086429" y="1946627"/>
            <a:chExt cx="337037" cy="337037"/>
          </a:xfrm>
        </p:grpSpPr>
        <p:sp>
          <p:nvSpPr>
            <p:cNvPr id="12" name="Rectangle: Rounded Corners 11">
              <a:extLst>
                <a:ext uri="{FF2B5EF4-FFF2-40B4-BE49-F238E27FC236}">
                  <a16:creationId xmlns:a16="http://schemas.microsoft.com/office/drawing/2014/main" id="{DC437042-C3AE-2091-E4BE-8446417D30E4}"/>
                </a:ext>
              </a:extLst>
            </p:cNvPr>
            <p:cNvSpPr/>
            <p:nvPr/>
          </p:nvSpPr>
          <p:spPr>
            <a:xfrm>
              <a:off x="2086429" y="1946627"/>
              <a:ext cx="337037" cy="337037"/>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4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pic>
          <p:nvPicPr>
            <p:cNvPr id="23" name="Graphic 22" descr="Minimize with solid fill">
              <a:extLst>
                <a:ext uri="{FF2B5EF4-FFF2-40B4-BE49-F238E27FC236}">
                  <a16:creationId xmlns:a16="http://schemas.microsoft.com/office/drawing/2014/main" id="{37C0FD58-4666-7ED1-3915-86E6C6DEFE5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39428" y="1999626"/>
              <a:ext cx="231038" cy="231038"/>
            </a:xfrm>
            <a:prstGeom prst="rect">
              <a:avLst/>
            </a:prstGeom>
          </p:spPr>
        </p:pic>
      </p:grpSp>
      <p:sp>
        <p:nvSpPr>
          <p:cNvPr id="32" name="Rectangle 31">
            <a:extLst>
              <a:ext uri="{FF2B5EF4-FFF2-40B4-BE49-F238E27FC236}">
                <a16:creationId xmlns:a16="http://schemas.microsoft.com/office/drawing/2014/main" id="{6D4E3A2D-7F0D-2974-C20F-226D466ACE68}"/>
              </a:ext>
            </a:extLst>
          </p:cNvPr>
          <p:cNvSpPr/>
          <p:nvPr/>
        </p:nvSpPr>
        <p:spPr>
          <a:xfrm>
            <a:off x="8762020" y="5800083"/>
            <a:ext cx="1184209"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-1,2 / -2,2</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Élasticité prix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51" name="Rectangle 150">
            <a:extLst>
              <a:ext uri="{FF2B5EF4-FFF2-40B4-BE49-F238E27FC236}">
                <a16:creationId xmlns:a16="http://schemas.microsoft.com/office/drawing/2014/main" id="{692D7828-AAD1-7B05-7E94-F529A943EC35}"/>
              </a:ext>
            </a:extLst>
          </p:cNvPr>
          <p:cNvSpPr/>
          <p:nvPr/>
        </p:nvSpPr>
        <p:spPr>
          <a:xfrm>
            <a:off x="9240608" y="1372370"/>
            <a:ext cx="1439690" cy="3034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Enjeux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22" name="Rectangle 121">
            <a:extLst>
              <a:ext uri="{FF2B5EF4-FFF2-40B4-BE49-F238E27FC236}">
                <a16:creationId xmlns:a16="http://schemas.microsoft.com/office/drawing/2014/main" id="{D53EEDE5-5879-E4CD-5E02-D79B051593F3}"/>
              </a:ext>
            </a:extLst>
          </p:cNvPr>
          <p:cNvSpPr/>
          <p:nvPr/>
        </p:nvSpPr>
        <p:spPr>
          <a:xfrm>
            <a:off x="532931" y="6405694"/>
            <a:ext cx="11234575"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Source : SAMMPO | Dépenses de consommation : INSEE | Indices prix : EUROSTAT | Niveaux de marge / élasticité : Estimation basées sur les rapports financiers et les normes INSEE.</a:t>
            </a:r>
          </a:p>
        </p:txBody>
      </p:sp>
      <p:grpSp>
        <p:nvGrpSpPr>
          <p:cNvPr id="131" name="Group 130">
            <a:extLst>
              <a:ext uri="{FF2B5EF4-FFF2-40B4-BE49-F238E27FC236}">
                <a16:creationId xmlns:a16="http://schemas.microsoft.com/office/drawing/2014/main" id="{C67792A3-4EA6-88F8-4032-12959C463AB2}"/>
              </a:ext>
            </a:extLst>
          </p:cNvPr>
          <p:cNvGrpSpPr/>
          <p:nvPr/>
        </p:nvGrpSpPr>
        <p:grpSpPr>
          <a:xfrm>
            <a:off x="8468218" y="2965866"/>
            <a:ext cx="2923102" cy="930810"/>
            <a:chOff x="8468218" y="1963494"/>
            <a:chExt cx="2923102" cy="930810"/>
          </a:xfrm>
        </p:grpSpPr>
        <p:sp>
          <p:nvSpPr>
            <p:cNvPr id="132" name="Rectangle 131">
              <a:extLst>
                <a:ext uri="{FF2B5EF4-FFF2-40B4-BE49-F238E27FC236}">
                  <a16:creationId xmlns:a16="http://schemas.microsoft.com/office/drawing/2014/main" id="{BCCD51E1-7F2E-A700-EF72-CFCFDE817AB4}"/>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Volumes en danger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Le contexte géopolitique ainsi que les changements des habitudes d’achat nuisent aux ventes.</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3" name="Graphic 132" descr="Badge Follow with solid fill">
              <a:extLst>
                <a:ext uri="{FF2B5EF4-FFF2-40B4-BE49-F238E27FC236}">
                  <a16:creationId xmlns:a16="http://schemas.microsoft.com/office/drawing/2014/main" id="{E22063F9-EF16-A080-D216-6431A257795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4" name="Group 133">
            <a:extLst>
              <a:ext uri="{FF2B5EF4-FFF2-40B4-BE49-F238E27FC236}">
                <a16:creationId xmlns:a16="http://schemas.microsoft.com/office/drawing/2014/main" id="{F50156A0-5CC0-DB51-1E27-231BDA9D8D11}"/>
              </a:ext>
            </a:extLst>
          </p:cNvPr>
          <p:cNvGrpSpPr/>
          <p:nvPr/>
        </p:nvGrpSpPr>
        <p:grpSpPr>
          <a:xfrm>
            <a:off x="8468218" y="4040156"/>
            <a:ext cx="2923102" cy="930810"/>
            <a:chOff x="8468218" y="1963494"/>
            <a:chExt cx="2923102" cy="930810"/>
          </a:xfrm>
        </p:grpSpPr>
        <p:sp>
          <p:nvSpPr>
            <p:cNvPr id="135" name="Rectangle 134">
              <a:extLst>
                <a:ext uri="{FF2B5EF4-FFF2-40B4-BE49-F238E27FC236}">
                  <a16:creationId xmlns:a16="http://schemas.microsoft.com/office/drawing/2014/main" id="{77F5396F-BF24-52A2-1CB1-0707524AC47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Réglementation et taxes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Le rayon subit des contraintes marketing additionnelles, et un coût fiscal plus élevé (accise).</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6" name="Graphic 135" descr="Badge Follow with solid fill">
              <a:extLst>
                <a:ext uri="{FF2B5EF4-FFF2-40B4-BE49-F238E27FC236}">
                  <a16:creationId xmlns:a16="http://schemas.microsoft.com/office/drawing/2014/main" id="{123FEC0F-63F6-6A44-73D7-DDC1B490AA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7" name="Group 136">
            <a:extLst>
              <a:ext uri="{FF2B5EF4-FFF2-40B4-BE49-F238E27FC236}">
                <a16:creationId xmlns:a16="http://schemas.microsoft.com/office/drawing/2014/main" id="{04FD289D-4EDD-9174-84A6-01623655C59E}"/>
              </a:ext>
            </a:extLst>
          </p:cNvPr>
          <p:cNvGrpSpPr/>
          <p:nvPr/>
        </p:nvGrpSpPr>
        <p:grpSpPr>
          <a:xfrm>
            <a:off x="8468218" y="5114447"/>
            <a:ext cx="2923102" cy="454976"/>
            <a:chOff x="8468218" y="1963494"/>
            <a:chExt cx="2923102" cy="454976"/>
          </a:xfrm>
        </p:grpSpPr>
        <p:sp>
          <p:nvSpPr>
            <p:cNvPr id="138" name="Rectangle 137">
              <a:extLst>
                <a:ext uri="{FF2B5EF4-FFF2-40B4-BE49-F238E27FC236}">
                  <a16:creationId xmlns:a16="http://schemas.microsoft.com/office/drawing/2014/main" id="{87645CA5-45A8-3967-CE45-B973CFB6C8B3}"/>
                </a:ext>
              </a:extLst>
            </p:cNvPr>
            <p:cNvSpPr/>
            <p:nvPr/>
          </p:nvSpPr>
          <p:spPr>
            <a:xfrm>
              <a:off x="8814791" y="1968552"/>
              <a:ext cx="2576529"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Forte saisonnalité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Impose des prévisions de ventes précises.</a:t>
              </a:r>
            </a:p>
          </p:txBody>
        </p:sp>
        <p:pic>
          <p:nvPicPr>
            <p:cNvPr id="139" name="Graphic 138" descr="Badge Follow with solid fill">
              <a:extLst>
                <a:ext uri="{FF2B5EF4-FFF2-40B4-BE49-F238E27FC236}">
                  <a16:creationId xmlns:a16="http://schemas.microsoft.com/office/drawing/2014/main" id="{B3427886-6259-7595-91C9-2FD83074309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16" name="Group 115">
            <a:extLst>
              <a:ext uri="{FF2B5EF4-FFF2-40B4-BE49-F238E27FC236}">
                <a16:creationId xmlns:a16="http://schemas.microsoft.com/office/drawing/2014/main" id="{02EE9492-3B5F-35FD-F555-85CF1476437B}"/>
              </a:ext>
            </a:extLst>
          </p:cNvPr>
          <p:cNvGrpSpPr/>
          <p:nvPr/>
        </p:nvGrpSpPr>
        <p:grpSpPr>
          <a:xfrm>
            <a:off x="8277038" y="663623"/>
            <a:ext cx="1013795" cy="528590"/>
            <a:chOff x="8189657" y="828723"/>
            <a:chExt cx="1065509" cy="528590"/>
          </a:xfrm>
        </p:grpSpPr>
        <p:sp>
          <p:nvSpPr>
            <p:cNvPr id="84" name="Rectangle: Rounded Corners 83">
              <a:extLst>
                <a:ext uri="{FF2B5EF4-FFF2-40B4-BE49-F238E27FC236}">
                  <a16:creationId xmlns:a16="http://schemas.microsoft.com/office/drawing/2014/main" id="{BEB94E34-318C-B2D6-1F9C-F1D1AC8D957D}"/>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14" name="Group 113">
              <a:extLst>
                <a:ext uri="{FF2B5EF4-FFF2-40B4-BE49-F238E27FC236}">
                  <a16:creationId xmlns:a16="http://schemas.microsoft.com/office/drawing/2014/main" id="{19A7E6AF-5504-98FB-A60D-ED0231DD86D9}"/>
                </a:ext>
              </a:extLst>
            </p:cNvPr>
            <p:cNvGrpSpPr/>
            <p:nvPr/>
          </p:nvGrpSpPr>
          <p:grpSpPr>
            <a:xfrm>
              <a:off x="8256809" y="878813"/>
              <a:ext cx="931205" cy="428410"/>
              <a:chOff x="8256810" y="862680"/>
              <a:chExt cx="931205" cy="428410"/>
            </a:xfrm>
          </p:grpSpPr>
          <p:sp>
            <p:nvSpPr>
              <p:cNvPr id="86" name="Rectangle 85">
                <a:extLst>
                  <a:ext uri="{FF2B5EF4-FFF2-40B4-BE49-F238E27FC236}">
                    <a16:creationId xmlns:a16="http://schemas.microsoft.com/office/drawing/2014/main" id="{99A8F9E2-EC8E-1412-AB41-13C4A971F8F8}"/>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71%</a:t>
                </a:r>
              </a:p>
            </p:txBody>
          </p:sp>
          <p:sp>
            <p:nvSpPr>
              <p:cNvPr id="87" name="Rectangle 86">
                <a:extLst>
                  <a:ext uri="{FF2B5EF4-FFF2-40B4-BE49-F238E27FC236}">
                    <a16:creationId xmlns:a16="http://schemas.microsoft.com/office/drawing/2014/main" id="{98D5BEA1-B6F2-0F5B-A822-B0F82930C0FD}"/>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22</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10" name="Straight Connector 109">
              <a:extLst>
                <a:ext uri="{FF2B5EF4-FFF2-40B4-BE49-F238E27FC236}">
                  <a16:creationId xmlns:a16="http://schemas.microsoft.com/office/drawing/2014/main" id="{AB1AC877-63A1-2DD9-22E1-32417CB9FC69}"/>
                </a:ext>
              </a:extLst>
            </p:cNvPr>
            <p:cNvCxnSpPr>
              <a:cxnSpLocks/>
              <a:stCxn id="84" idx="0"/>
              <a:endCxn id="84"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007096BE-461A-7CEC-CAB7-A657C10CC461}"/>
              </a:ext>
            </a:extLst>
          </p:cNvPr>
          <p:cNvGrpSpPr/>
          <p:nvPr/>
        </p:nvGrpSpPr>
        <p:grpSpPr>
          <a:xfrm>
            <a:off x="9453555" y="663623"/>
            <a:ext cx="1013795" cy="528590"/>
            <a:chOff x="8189657" y="828723"/>
            <a:chExt cx="1065509" cy="528590"/>
          </a:xfrm>
        </p:grpSpPr>
        <p:sp>
          <p:nvSpPr>
            <p:cNvPr id="120" name="Rectangle: Rounded Corners 119">
              <a:extLst>
                <a:ext uri="{FF2B5EF4-FFF2-40B4-BE49-F238E27FC236}">
                  <a16:creationId xmlns:a16="http://schemas.microsoft.com/office/drawing/2014/main" id="{C3A9719C-8697-8EF3-9B04-3B0E3B49734B}"/>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25" name="Group 124">
              <a:extLst>
                <a:ext uri="{FF2B5EF4-FFF2-40B4-BE49-F238E27FC236}">
                  <a16:creationId xmlns:a16="http://schemas.microsoft.com/office/drawing/2014/main" id="{E2815AA1-571C-EBE0-9D35-D715E49DA3B5}"/>
                </a:ext>
              </a:extLst>
            </p:cNvPr>
            <p:cNvGrpSpPr/>
            <p:nvPr/>
          </p:nvGrpSpPr>
          <p:grpSpPr>
            <a:xfrm>
              <a:off x="8256809" y="878813"/>
              <a:ext cx="931205" cy="428410"/>
              <a:chOff x="8256810" y="862680"/>
              <a:chExt cx="931205" cy="428410"/>
            </a:xfrm>
          </p:grpSpPr>
          <p:sp>
            <p:nvSpPr>
              <p:cNvPr id="140" name="Rectangle 139">
                <a:extLst>
                  <a:ext uri="{FF2B5EF4-FFF2-40B4-BE49-F238E27FC236}">
                    <a16:creationId xmlns:a16="http://schemas.microsoft.com/office/drawing/2014/main" id="{E7160FCD-ADAC-5E63-4334-070AA7F2CC11}"/>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60%</a:t>
                </a:r>
              </a:p>
            </p:txBody>
          </p:sp>
          <p:sp>
            <p:nvSpPr>
              <p:cNvPr id="141" name="Rectangle 140">
                <a:extLst>
                  <a:ext uri="{FF2B5EF4-FFF2-40B4-BE49-F238E27FC236}">
                    <a16:creationId xmlns:a16="http://schemas.microsoft.com/office/drawing/2014/main" id="{041B6A91-37C4-159E-AD3B-922265979CB6}"/>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27</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26" name="Straight Connector 125">
              <a:extLst>
                <a:ext uri="{FF2B5EF4-FFF2-40B4-BE49-F238E27FC236}">
                  <a16:creationId xmlns:a16="http://schemas.microsoft.com/office/drawing/2014/main" id="{8B633FD8-F31C-54DC-5AFA-322B8D03C022}"/>
                </a:ext>
              </a:extLst>
            </p:cNvPr>
            <p:cNvCxnSpPr>
              <a:cxnSpLocks/>
              <a:stCxn id="120" idx="0"/>
              <a:endCxn id="120"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53022F41-C660-8753-B8A1-FFC4699E8F24}"/>
              </a:ext>
            </a:extLst>
          </p:cNvPr>
          <p:cNvGrpSpPr/>
          <p:nvPr/>
        </p:nvGrpSpPr>
        <p:grpSpPr>
          <a:xfrm>
            <a:off x="10630073" y="663623"/>
            <a:ext cx="1013795" cy="528590"/>
            <a:chOff x="8189657" y="828723"/>
            <a:chExt cx="1065509" cy="528590"/>
          </a:xfrm>
        </p:grpSpPr>
        <p:sp>
          <p:nvSpPr>
            <p:cNvPr id="143" name="Rectangle: Rounded Corners 142">
              <a:extLst>
                <a:ext uri="{FF2B5EF4-FFF2-40B4-BE49-F238E27FC236}">
                  <a16:creationId xmlns:a16="http://schemas.microsoft.com/office/drawing/2014/main" id="{0A3DA9A9-B78B-2D75-C703-F8C350FA42AA}"/>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44" name="Group 143">
              <a:extLst>
                <a:ext uri="{FF2B5EF4-FFF2-40B4-BE49-F238E27FC236}">
                  <a16:creationId xmlns:a16="http://schemas.microsoft.com/office/drawing/2014/main" id="{53CB59E3-E16E-A18B-D6A5-2CFC35C78B52}"/>
                </a:ext>
              </a:extLst>
            </p:cNvPr>
            <p:cNvGrpSpPr/>
            <p:nvPr/>
          </p:nvGrpSpPr>
          <p:grpSpPr>
            <a:xfrm>
              <a:off x="8256809" y="878813"/>
              <a:ext cx="931205" cy="428410"/>
              <a:chOff x="8256810" y="862680"/>
              <a:chExt cx="931205" cy="428410"/>
            </a:xfrm>
          </p:grpSpPr>
          <p:sp>
            <p:nvSpPr>
              <p:cNvPr id="148" name="Rectangle 147">
                <a:extLst>
                  <a:ext uri="{FF2B5EF4-FFF2-40B4-BE49-F238E27FC236}">
                    <a16:creationId xmlns:a16="http://schemas.microsoft.com/office/drawing/2014/main" id="{9FF740D6-A472-63E5-1EE7-F36E25E31C2D}"/>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58%</a:t>
                </a:r>
              </a:p>
            </p:txBody>
          </p:sp>
          <p:sp>
            <p:nvSpPr>
              <p:cNvPr id="149" name="Rectangle 148">
                <a:extLst>
                  <a:ext uri="{FF2B5EF4-FFF2-40B4-BE49-F238E27FC236}">
                    <a16:creationId xmlns:a16="http://schemas.microsoft.com/office/drawing/2014/main" id="{A9962493-4E2D-2ECC-D355-E6A49DCB3A49}"/>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18</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45" name="Straight Connector 144">
              <a:extLst>
                <a:ext uri="{FF2B5EF4-FFF2-40B4-BE49-F238E27FC236}">
                  <a16:creationId xmlns:a16="http://schemas.microsoft.com/office/drawing/2014/main" id="{8BCD6997-770A-591E-1CA3-68512B7A58E7}"/>
                </a:ext>
              </a:extLst>
            </p:cNvPr>
            <p:cNvCxnSpPr>
              <a:cxnSpLocks/>
              <a:stCxn id="143" idx="0"/>
              <a:endCxn id="143"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sp>
        <p:nvSpPr>
          <p:cNvPr id="153" name="Rectangle: Rounded Corners 152">
            <a:extLst>
              <a:ext uri="{FF2B5EF4-FFF2-40B4-BE49-F238E27FC236}">
                <a16:creationId xmlns:a16="http://schemas.microsoft.com/office/drawing/2014/main" id="{510437D3-EF53-068E-7731-52DAF45C6504}"/>
              </a:ext>
            </a:extLst>
          </p:cNvPr>
          <p:cNvSpPr/>
          <p:nvPr/>
        </p:nvSpPr>
        <p:spPr>
          <a:xfrm>
            <a:off x="9708453" y="1699824"/>
            <a:ext cx="504000" cy="360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6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cxnSp>
        <p:nvCxnSpPr>
          <p:cNvPr id="155" name="Straight Connector 154">
            <a:extLst>
              <a:ext uri="{FF2B5EF4-FFF2-40B4-BE49-F238E27FC236}">
                <a16:creationId xmlns:a16="http://schemas.microsoft.com/office/drawing/2014/main" id="{5C5524D0-4B62-AC84-AE31-1FC5DC04BB29}"/>
              </a:ext>
            </a:extLst>
          </p:cNvPr>
          <p:cNvCxnSpPr/>
          <p:nvPr/>
        </p:nvCxnSpPr>
        <p:spPr>
          <a:xfrm>
            <a:off x="8153400" y="5686245"/>
            <a:ext cx="36141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079AF9E-9A2B-63D3-4AA2-97819745C4A3}"/>
              </a:ext>
            </a:extLst>
          </p:cNvPr>
          <p:cNvSpPr/>
          <p:nvPr/>
        </p:nvSpPr>
        <p:spPr>
          <a:xfrm>
            <a:off x="10588986" y="1272158"/>
            <a:ext cx="1013795" cy="159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r"/>
            <a:r>
              <a:rPr lang="fr-FR" sz="800" i="1" noProof="0" dirty="0">
                <a:solidFill>
                  <a:schemeClr val="bg1"/>
                </a:solidFill>
                <a:latin typeface="Aptos" panose="020B0004020202020204" pitchFamily="34" charset="0"/>
                <a:ea typeface="Lato" panose="020F0502020204030203" pitchFamily="34" charset="0"/>
                <a:cs typeface="Lato" panose="020F0502020204030203" pitchFamily="34" charset="0"/>
              </a:rPr>
              <a:t>Estimations internes</a:t>
            </a:r>
          </a:p>
        </p:txBody>
      </p:sp>
      <p:sp>
        <p:nvSpPr>
          <p:cNvPr id="7" name="Rectangle 6">
            <a:extLst>
              <a:ext uri="{FF2B5EF4-FFF2-40B4-BE49-F238E27FC236}">
                <a16:creationId xmlns:a16="http://schemas.microsoft.com/office/drawing/2014/main" id="{48393925-CD42-6D4F-B85D-35A5032C09AC}"/>
              </a:ext>
            </a:extLst>
          </p:cNvPr>
          <p:cNvSpPr/>
          <p:nvPr/>
        </p:nvSpPr>
        <p:spPr>
          <a:xfrm>
            <a:off x="605332" y="1545796"/>
            <a:ext cx="10785983" cy="486783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3</a:t>
            </a:r>
          </a:p>
          <a:p>
            <a:pPr algn="ctr"/>
            <a:endParaRPr lang="fr-FR" dirty="0"/>
          </a:p>
          <a:p>
            <a:pPr algn="ctr"/>
            <a:r>
              <a:rPr lang="fr-FR" dirty="0"/>
              <a:t>,</a:t>
            </a:r>
          </a:p>
          <a:p>
            <a:pPr algn="ctr"/>
            <a:endParaRPr lang="fr-FR" dirty="0"/>
          </a:p>
        </p:txBody>
      </p:sp>
    </p:spTree>
    <p:extLst>
      <p:ext uri="{BB962C8B-B14F-4D97-AF65-F5344CB8AC3E}">
        <p14:creationId xmlns:p14="http://schemas.microsoft.com/office/powerpoint/2010/main" val="833337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84A4-82CD-1A24-A7A5-DCA80D35E6C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0DDCD4-54E1-A86A-40B4-6D8112C2D2F2}"/>
              </a:ext>
            </a:extLst>
          </p:cNvPr>
          <p:cNvSpPr/>
          <p:nvPr/>
        </p:nvSpPr>
        <p:spPr>
          <a:xfrm>
            <a:off x="-1" y="1403928"/>
            <a:ext cx="12192001" cy="49853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4" name="Rectangle: Rounded Corners 3">
            <a:extLst>
              <a:ext uri="{FF2B5EF4-FFF2-40B4-BE49-F238E27FC236}">
                <a16:creationId xmlns:a16="http://schemas.microsoft.com/office/drawing/2014/main" id="{3EEBF34E-CC30-85F6-4971-59760F46564F}"/>
              </a:ext>
            </a:extLst>
          </p:cNvPr>
          <p:cNvSpPr/>
          <p:nvPr/>
        </p:nvSpPr>
        <p:spPr>
          <a:xfrm>
            <a:off x="532932" y="611296"/>
            <a:ext cx="226904" cy="2269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5" name="TextBox 4">
            <a:extLst>
              <a:ext uri="{FF2B5EF4-FFF2-40B4-BE49-F238E27FC236}">
                <a16:creationId xmlns:a16="http://schemas.microsoft.com/office/drawing/2014/main" id="{9A955C85-C43E-606F-00DC-6E1429062E20}"/>
              </a:ext>
            </a:extLst>
          </p:cNvPr>
          <p:cNvSpPr txBox="1"/>
          <p:nvPr/>
        </p:nvSpPr>
        <p:spPr>
          <a:xfrm>
            <a:off x="898070" y="246278"/>
            <a:ext cx="10535160" cy="340735"/>
          </a:xfrm>
          <a:prstGeom prst="rect">
            <a:avLst/>
          </a:prstGeom>
          <a:noFill/>
        </p:spPr>
        <p:txBody>
          <a:bodyPr wrap="square" lIns="0" tIns="46800" rIns="0" bIns="46800" rtlCol="0" anchor="ctr">
            <a:spAutoFit/>
          </a:bodyPr>
          <a:lstStyle/>
          <a:p>
            <a:r>
              <a:rPr lang="fr-FR" sz="1600" noProof="0" dirty="0">
                <a:latin typeface="Aptos" panose="020B0004020202020204" pitchFamily="34" charset="0"/>
              </a:rPr>
              <a:t>Partie A</a:t>
            </a:r>
          </a:p>
        </p:txBody>
      </p:sp>
      <p:sp>
        <p:nvSpPr>
          <p:cNvPr id="6" name="TextBox 5">
            <a:extLst>
              <a:ext uri="{FF2B5EF4-FFF2-40B4-BE49-F238E27FC236}">
                <a16:creationId xmlns:a16="http://schemas.microsoft.com/office/drawing/2014/main" id="{24C40A8E-8563-5D81-A06C-B587AEF72130}"/>
              </a:ext>
            </a:extLst>
          </p:cNvPr>
          <p:cNvSpPr txBox="1"/>
          <p:nvPr/>
        </p:nvSpPr>
        <p:spPr>
          <a:xfrm>
            <a:off x="898070" y="492774"/>
            <a:ext cx="11092497" cy="463846"/>
          </a:xfrm>
          <a:prstGeom prst="rect">
            <a:avLst/>
          </a:prstGeom>
          <a:noFill/>
        </p:spPr>
        <p:txBody>
          <a:bodyPr wrap="square" lIns="0" tIns="46800" rIns="0" bIns="46800" rtlCol="0" anchor="t">
            <a:spAutoFit/>
          </a:bodyPr>
          <a:lstStyle/>
          <a:p>
            <a:r>
              <a:rPr lang="fr-FR" sz="2400" b="1" noProof="0" dirty="0">
                <a:latin typeface="Aptos Black" panose="020B0004020202020204" pitchFamily="34" charset="0"/>
              </a:rPr>
              <a:t>Titre</a:t>
            </a:r>
          </a:p>
        </p:txBody>
      </p:sp>
      <p:sp>
        <p:nvSpPr>
          <p:cNvPr id="44" name="TextBox 43">
            <a:extLst>
              <a:ext uri="{FF2B5EF4-FFF2-40B4-BE49-F238E27FC236}">
                <a16:creationId xmlns:a16="http://schemas.microsoft.com/office/drawing/2014/main" id="{539497D9-4C72-042B-BCCB-58F5B17FDF9B}"/>
              </a:ext>
            </a:extLst>
          </p:cNvPr>
          <p:cNvSpPr txBox="1"/>
          <p:nvPr/>
        </p:nvSpPr>
        <p:spPr>
          <a:xfrm>
            <a:off x="532932" y="1911269"/>
            <a:ext cx="4655987" cy="525401"/>
          </a:xfrm>
          <a:prstGeom prst="rect">
            <a:avLst/>
          </a:prstGeom>
          <a:noFill/>
        </p:spPr>
        <p:txBody>
          <a:bodyPr wrap="square" lIns="0" tIns="46800" rIns="0" bIns="46800" rtlCol="0" anchor="ctr">
            <a:spAutoFit/>
          </a:bodyPr>
          <a:lstStyle/>
          <a:p>
            <a:r>
              <a:rPr lang="fr-FR" sz="1400" b="1" noProof="0" dirty="0">
                <a:latin typeface="Aptos" panose="020B0004020202020204" pitchFamily="34" charset="0"/>
              </a:rPr>
              <a:t>Texte</a:t>
            </a:r>
          </a:p>
          <a:p>
            <a:r>
              <a:rPr lang="fr-FR" sz="1400" i="1" noProof="0" dirty="0">
                <a:latin typeface="Aptos" panose="020B0004020202020204" pitchFamily="34" charset="0"/>
              </a:rPr>
              <a:t>Texte</a:t>
            </a:r>
          </a:p>
        </p:txBody>
      </p:sp>
    </p:spTree>
    <p:extLst>
      <p:ext uri="{BB962C8B-B14F-4D97-AF65-F5344CB8AC3E}">
        <p14:creationId xmlns:p14="http://schemas.microsoft.com/office/powerpoint/2010/main" val="2290488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untry road along the side of mountains">
            <a:extLst>
              <a:ext uri="{FF2B5EF4-FFF2-40B4-BE49-F238E27FC236}">
                <a16:creationId xmlns:a16="http://schemas.microsoft.com/office/drawing/2014/main" id="{F5308F07-B49D-2B14-72C3-8E1EC1193B98}"/>
              </a:ext>
            </a:extLst>
          </p:cNvPr>
          <p:cNvPicPr>
            <a:picLocks noChangeAspect="1"/>
          </p:cNvPicPr>
          <p:nvPr/>
        </p:nvPicPr>
        <p:blipFill>
          <a:blip r:embed="rId2">
            <a:extLst>
              <a:ext uri="{28A0092B-C50C-407E-A947-70E740481C1C}">
                <a14:useLocalDpi xmlns:a14="http://schemas.microsoft.com/office/drawing/2010/main" val="0"/>
              </a:ext>
            </a:extLst>
          </a:blip>
          <a:srcRect t="5498" b="10106"/>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7DD808BD-E320-2008-8597-189AF6CF8D08}"/>
              </a:ext>
            </a:extLst>
          </p:cNvPr>
          <p:cNvSpPr/>
          <p:nvPr/>
        </p:nvSpPr>
        <p:spPr>
          <a:xfrm>
            <a:off x="2074127" y="1328286"/>
            <a:ext cx="8043746" cy="4201428"/>
          </a:xfrm>
          <a:prstGeom prst="roundRect">
            <a:avLst>
              <a:gd name="adj" fmla="val 5670"/>
            </a:avLst>
          </a:prstGeom>
          <a:solidFill>
            <a:srgbClr val="FFFFFF">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4400" b="1" dirty="0">
                <a:solidFill>
                  <a:schemeClr val="tx1"/>
                </a:solidFill>
                <a:latin typeface="Aptos Black" panose="020B0004020202020204" pitchFamily="34" charset="0"/>
                <a:ea typeface="Lato" panose="020F0502020204030203" pitchFamily="34" charset="0"/>
                <a:cs typeface="Lato" panose="020F0502020204030203" pitchFamily="34" charset="0"/>
              </a:rPr>
              <a:t>Contactez-nous</a:t>
            </a:r>
          </a:p>
          <a:p>
            <a:pPr algn="ctr"/>
            <a:endParaRPr lang="fr-FR" sz="5400" b="1" dirty="0">
              <a:solidFill>
                <a:schemeClr val="tx1"/>
              </a:solidFill>
              <a:latin typeface="Aptos" panose="020B0004020202020204" pitchFamily="34" charset="0"/>
              <a:ea typeface="Lato" panose="020F0502020204030203" pitchFamily="34" charset="0"/>
              <a:cs typeface="Lato" panose="020F0502020204030203" pitchFamily="34" charset="0"/>
            </a:endParaRPr>
          </a:p>
          <a:p>
            <a:r>
              <a:rPr lang="fr-FR" sz="1400" dirty="0">
                <a:solidFill>
                  <a:schemeClr val="tx1"/>
                </a:solidFill>
                <a:latin typeface="Aptos" panose="020B0004020202020204" pitchFamily="34" charset="0"/>
                <a:ea typeface="Lato" panose="020F0502020204030203" pitchFamily="34" charset="0"/>
                <a:cs typeface="Lato" panose="020F0502020204030203" pitchFamily="34" charset="0"/>
              </a:rPr>
              <a:t>	</a:t>
            </a:r>
            <a:r>
              <a:rPr lang="fr-FR" sz="1600" dirty="0">
                <a:solidFill>
                  <a:schemeClr val="tx1"/>
                </a:solidFill>
                <a:latin typeface="Aptos" panose="020B0004020202020204" pitchFamily="34" charset="0"/>
                <a:ea typeface="Lato" panose="020F0502020204030203" pitchFamily="34" charset="0"/>
                <a:cs typeface="Lato" panose="020F0502020204030203" pitchFamily="34" charset="0"/>
              </a:rPr>
              <a:t>Vincent Moschetta :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Vmoschetta@sammpo.fr</a:t>
            </a:r>
            <a:endPar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endParaRPr>
          </a:p>
          <a:p>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Tel. 		06 66 56 36 45</a:t>
            </a:r>
          </a:p>
          <a:p>
            <a:endPar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endParaRPr>
          </a:p>
          <a:p>
            <a:r>
              <a:rPr lang="fr-FR" sz="1600" b="1"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err="1">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Sibora</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err="1">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Malollari</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hlinkClick r:id="rId4">
                  <a:extLst>
                    <a:ext uri="{A12FA001-AC4F-418D-AE19-62706E023703}">
                      <ahyp:hlinkClr xmlns:ahyp="http://schemas.microsoft.com/office/drawing/2018/hyperlinkcolor" val="tx"/>
                    </a:ext>
                  </a:extLst>
                </a:hlinkClick>
              </a:rPr>
              <a:t>Smalollari@sammpo.fr</a:t>
            </a:r>
            <a:endPar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endParaRPr>
          </a:p>
          <a:p>
            <a:r>
              <a:rPr lang="fr-FR" sz="1600" b="1"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Tel. 		06 19 72 06 69</a:t>
            </a:r>
          </a:p>
        </p:txBody>
      </p:sp>
    </p:spTree>
    <p:extLst>
      <p:ext uri="{BB962C8B-B14F-4D97-AF65-F5344CB8AC3E}">
        <p14:creationId xmlns:p14="http://schemas.microsoft.com/office/powerpoint/2010/main" val="33990992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SAMMPO 02">
      <a:dk1>
        <a:srgbClr val="1B1C1F"/>
      </a:dk1>
      <a:lt1>
        <a:sysClr val="window" lastClr="FFFFFF"/>
      </a:lt1>
      <a:dk2>
        <a:srgbClr val="20307E"/>
      </a:dk2>
      <a:lt2>
        <a:srgbClr val="F8F8FA"/>
      </a:lt2>
      <a:accent1>
        <a:srgbClr val="D6283D"/>
      </a:accent1>
      <a:accent2>
        <a:srgbClr val="457B9D"/>
      </a:accent2>
      <a:accent3>
        <a:srgbClr val="3D3D3D"/>
      </a:accent3>
      <a:accent4>
        <a:srgbClr val="2FB3B0"/>
      </a:accent4>
      <a:accent5>
        <a:srgbClr val="4A5198"/>
      </a:accent5>
      <a:accent6>
        <a:srgbClr val="70AD47"/>
      </a:accent6>
      <a:hlink>
        <a:srgbClr val="954F72"/>
      </a:hlink>
      <a:folHlink>
        <a:srgbClr val="AEABA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32584</TotalTime>
  <Words>902</Words>
  <Application>Microsoft Office PowerPoint</Application>
  <PresentationFormat>Widescreen</PresentationFormat>
  <Paragraphs>130</Paragraphs>
  <Slides>8</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5" baseType="lpstr">
      <vt:lpstr>Aptos</vt:lpstr>
      <vt:lpstr>Aptos Black</vt:lpstr>
      <vt:lpstr>Aptos Display</vt:lpstr>
      <vt:lpstr>Arial</vt:lpstr>
      <vt:lpstr>Lato</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Moschetta</dc:creator>
  <cp:lastModifiedBy>Vincent Moschetta</cp:lastModifiedBy>
  <cp:revision>1111</cp:revision>
  <dcterms:created xsi:type="dcterms:W3CDTF">2025-05-09T11:21:43Z</dcterms:created>
  <dcterms:modified xsi:type="dcterms:W3CDTF">2025-10-11T19:01:56Z</dcterms:modified>
</cp:coreProperties>
</file>