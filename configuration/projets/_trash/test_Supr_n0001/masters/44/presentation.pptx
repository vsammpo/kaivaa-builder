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91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9500"/>
    <a:srgbClr val="FFFFFF"/>
    <a:srgbClr val="DBDBE5"/>
    <a:srgbClr val="D6283D"/>
    <a:srgbClr val="2FB3B0"/>
    <a:srgbClr val="F7D4D8"/>
    <a:srgbClr val="C7CEF1"/>
    <a:srgbClr val="004BA1"/>
    <a:srgbClr val="E01E7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8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738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configuration\templates\FMCG%20Potentiel%20Par%20Marque\1.0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configuration\templates\FMCG%20Potentiel%20Par%20Marque\1.0\mas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297857715764745"/>
          <c:y val="3.2979973106094941E-2"/>
          <c:w val="0.42075278107295383"/>
          <c:h val="0.9501293802834224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'01 - Effects'!$J$9</c:f>
              <c:strCache>
                <c:ptCount val="1"/>
                <c:pt idx="0">
                  <c:v>Blank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'01 - Effects'!$I$10:$I$18</c:f>
              <c:strCache>
                <c:ptCount val="9"/>
                <c:pt idx="0">
                  <c:v>CA N-1</c:v>
                </c:pt>
                <c:pt idx="1">
                  <c:v>Effet Distribution</c:v>
                </c:pt>
                <c:pt idx="2">
                  <c:v>Effet Volume magasin</c:v>
                </c:pt>
                <c:pt idx="3">
                  <c:v>Effet prix pur</c:v>
                </c:pt>
                <c:pt idx="4">
                  <c:v>Effet mix distributeur</c:v>
                </c:pt>
                <c:pt idx="5">
                  <c:v>Effet canal</c:v>
                </c:pt>
                <c:pt idx="6">
                  <c:v>Effet région</c:v>
                </c:pt>
                <c:pt idx="7">
                  <c:v>Effet produit</c:v>
                </c:pt>
                <c:pt idx="8">
                  <c:v>CA N</c:v>
                </c:pt>
              </c:strCache>
            </c:strRef>
          </c:cat>
          <c:val>
            <c:numRef>
              <c:f>'01 - Effects'!$J$10:$J$18</c:f>
              <c:numCache>
                <c:formatCode>#,##0</c:formatCode>
                <c:ptCount val="9"/>
                <c:pt idx="1">
                  <c:v>433655414.63303846</c:v>
                </c:pt>
                <c:pt idx="2">
                  <c:v>374200363.83738536</c:v>
                </c:pt>
                <c:pt idx="3">
                  <c:v>374200363.83738536</c:v>
                </c:pt>
                <c:pt idx="4">
                  <c:v>396943199.12105995</c:v>
                </c:pt>
                <c:pt idx="5">
                  <c:v>396943199.12105995</c:v>
                </c:pt>
                <c:pt idx="6">
                  <c:v>397304046.89755428</c:v>
                </c:pt>
                <c:pt idx="7">
                  <c:v>397304046.89755428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A-4498-9FB8-D936836F4904}"/>
            </c:ext>
          </c:extLst>
        </c:ser>
        <c:ser>
          <c:idx val="1"/>
          <c:order val="1"/>
          <c:tx>
            <c:strRef>
              <c:f>'01 - Effects'!$K$9</c:f>
              <c:strCache>
                <c:ptCount val="1"/>
                <c:pt idx="0">
                  <c:v>Basis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'01 - Effects'!$I$10:$I$18</c:f>
              <c:strCache>
                <c:ptCount val="9"/>
                <c:pt idx="0">
                  <c:v>CA N-1</c:v>
                </c:pt>
                <c:pt idx="1">
                  <c:v>Effet Distribution</c:v>
                </c:pt>
                <c:pt idx="2">
                  <c:v>Effet Volume magasin</c:v>
                </c:pt>
                <c:pt idx="3">
                  <c:v>Effet prix pur</c:v>
                </c:pt>
                <c:pt idx="4">
                  <c:v>Effet mix distributeur</c:v>
                </c:pt>
                <c:pt idx="5">
                  <c:v>Effet canal</c:v>
                </c:pt>
                <c:pt idx="6">
                  <c:v>Effet région</c:v>
                </c:pt>
                <c:pt idx="7">
                  <c:v>Effet produit</c:v>
                </c:pt>
                <c:pt idx="8">
                  <c:v>CA N</c:v>
                </c:pt>
              </c:strCache>
            </c:strRef>
          </c:cat>
          <c:val>
            <c:numRef>
              <c:f>'01 - Effects'!$K$10:$K$18</c:f>
              <c:numCache>
                <c:formatCode>General</c:formatCode>
                <c:ptCount val="9"/>
                <c:pt idx="0" formatCode="#,##0">
                  <c:v>448405884.55927879</c:v>
                </c:pt>
                <c:pt idx="8" formatCode="#,##0">
                  <c:v>399940477.7783252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0A-4498-9FB8-D936836F4904}"/>
            </c:ext>
          </c:extLst>
        </c:ser>
        <c:ser>
          <c:idx val="2"/>
          <c:order val="2"/>
          <c:tx>
            <c:strRef>
              <c:f>'01 - Effects'!$L$9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'01 - Effects'!$I$10:$I$18</c:f>
              <c:strCache>
                <c:ptCount val="9"/>
                <c:pt idx="0">
                  <c:v>CA N-1</c:v>
                </c:pt>
                <c:pt idx="1">
                  <c:v>Effet Distribution</c:v>
                </c:pt>
                <c:pt idx="2">
                  <c:v>Effet Volume magasin</c:v>
                </c:pt>
                <c:pt idx="3">
                  <c:v>Effet prix pur</c:v>
                </c:pt>
                <c:pt idx="4">
                  <c:v>Effet mix distributeur</c:v>
                </c:pt>
                <c:pt idx="5">
                  <c:v>Effet canal</c:v>
                </c:pt>
                <c:pt idx="6">
                  <c:v>Effet région</c:v>
                </c:pt>
                <c:pt idx="7">
                  <c:v>Effet produit</c:v>
                </c:pt>
                <c:pt idx="8">
                  <c:v>CA N</c:v>
                </c:pt>
              </c:strCache>
            </c:strRef>
          </c:cat>
          <c:val>
            <c:numRef>
              <c:f>'01 - Effects'!$L$10:$L$18</c:f>
              <c:numCache>
                <c:formatCode>#,##0</c:formatCode>
                <c:ptCount val="9"/>
                <c:pt idx="1">
                  <c:v>0</c:v>
                </c:pt>
                <c:pt idx="2">
                  <c:v>0</c:v>
                </c:pt>
                <c:pt idx="3">
                  <c:v>22742835.283674598</c:v>
                </c:pt>
                <c:pt idx="4">
                  <c:v>0</c:v>
                </c:pt>
                <c:pt idx="5">
                  <c:v>360847.77649432421</c:v>
                </c:pt>
                <c:pt idx="6">
                  <c:v>0</c:v>
                </c:pt>
                <c:pt idx="7">
                  <c:v>2636430.8807709217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0A-4498-9FB8-D936836F4904}"/>
            </c:ext>
          </c:extLst>
        </c:ser>
        <c:ser>
          <c:idx val="3"/>
          <c:order val="3"/>
          <c:tx>
            <c:strRef>
              <c:f>'01 - Effects'!$M$9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'01 - Effects'!$I$10:$I$18</c:f>
              <c:strCache>
                <c:ptCount val="9"/>
                <c:pt idx="0">
                  <c:v>CA N-1</c:v>
                </c:pt>
                <c:pt idx="1">
                  <c:v>Effet Distribution</c:v>
                </c:pt>
                <c:pt idx="2">
                  <c:v>Effet Volume magasin</c:v>
                </c:pt>
                <c:pt idx="3">
                  <c:v>Effet prix pur</c:v>
                </c:pt>
                <c:pt idx="4">
                  <c:v>Effet mix distributeur</c:v>
                </c:pt>
                <c:pt idx="5">
                  <c:v>Effet canal</c:v>
                </c:pt>
                <c:pt idx="6">
                  <c:v>Effet région</c:v>
                </c:pt>
                <c:pt idx="7">
                  <c:v>Effet produit</c:v>
                </c:pt>
                <c:pt idx="8">
                  <c:v>CA N</c:v>
                </c:pt>
              </c:strCache>
            </c:strRef>
          </c:cat>
          <c:val>
            <c:numRef>
              <c:f>'01 - Effects'!$M$10:$M$18</c:f>
              <c:numCache>
                <c:formatCode>#,##0</c:formatCode>
                <c:ptCount val="9"/>
                <c:pt idx="1">
                  <c:v>14750469.926240325</c:v>
                </c:pt>
                <c:pt idx="2">
                  <c:v>59455050.795653105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0A-4498-9FB8-D936836F4904}"/>
            </c:ext>
          </c:extLst>
        </c:ser>
        <c:ser>
          <c:idx val="4"/>
          <c:order val="4"/>
          <c:tx>
            <c:strRef>
              <c:f>'01 - Effects'!$N$9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defRPr>
                    </a:pPr>
                    <a:fld id="{14B86FE9-3EE7-46EA-836A-B5B8ED75754E}" type="CELLRANGE">
                      <a:rPr lang="en-US"/>
                      <a:pPr algn="l">
                        <a:defRPr>
                          <a:latin typeface="Aptos Black" panose="020B0004020202020204" pitchFamily="34" charset="0"/>
                        </a:defRPr>
                      </a:pPr>
                      <a:t>[CELLRANGE]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 Black" panose="020B0004020202020204" pitchFamily="34" charset="0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4.75899612556901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590A-4498-9FB8-D936836F490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9A2C5A3-EA98-4466-9B55-2F773DADFEAB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8.709115347812397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590A-4498-9FB8-D936836F490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4F5B617-58B1-4696-AE80-2883CC441D58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8.709115347812397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590A-4498-9FB8-D936836F490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BB3F9BB-7A28-4E55-BA63-52A6FD1AF25F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8.709115347812397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590A-4498-9FB8-D936836F4904}"/>
                </c:ext>
              </c:extLst>
            </c:dLbl>
            <c:dLbl>
              <c:idx val="4"/>
              <c:layout>
                <c:manualLayout>
                  <c:x val="0.12878650627681715"/>
                  <c:y val="9.8864185431668019E-17"/>
                </c:manualLayout>
              </c:layout>
              <c:tx>
                <c:rich>
                  <a:bodyPr/>
                  <a:lstStyle/>
                  <a:p>
                    <a:fld id="{A94C68F0-9491-4278-B08B-6D2A42A17523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4.75899612556901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590A-4498-9FB8-D936836F490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1B11A12-F410-4C28-AA0A-BAC1085F0E62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4.75899612556901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590A-4498-9FB8-D936836F490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10222AD-9352-46D1-B1ED-ECA50C4EE0E1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4.75899612556901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590A-4498-9FB8-D936836F490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FF0E58B7-F317-4698-A497-4BA871D0889A}" type="CELLRANGE">
                      <a:rPr lang="en-US"/>
                      <a:pPr/>
                      <a:t>[CELLRANGE]</a:t>
                    </a:fld>
                    <a:endParaRPr lang="fr-FR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8.709115347812397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590A-4498-9FB8-D936836F4904}"/>
                </c:ext>
              </c:extLst>
            </c:dLbl>
            <c:dLbl>
              <c:idx val="8"/>
              <c:tx>
                <c:rich>
                  <a:bodyPr rot="0" spcFirstLastPara="1" vertOverflow="ellipsis" vert="horz" wrap="square" anchor="ctr" anchorCtr="0"/>
                  <a:lstStyle/>
                  <a:p>
                    <a:pPr algn="l">
                      <a:defRPr sz="12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 Black" panose="020B0004020202020204" pitchFamily="34" charset="0"/>
                        <a:ea typeface="+mn-ea"/>
                        <a:cs typeface="+mn-cs"/>
                      </a:defRPr>
                    </a:pPr>
                    <a:fld id="{B1EAE4D9-FD52-4FC0-8C46-98706FF9012B}" type="CELLRANGE">
                      <a:rPr lang="en-US"/>
                      <a:pPr algn="l">
                        <a:defRPr>
                          <a:latin typeface="Aptos Black" panose="020B0004020202020204" pitchFamily="34" charset="0"/>
                        </a:defRPr>
                      </a:pPr>
                      <a:t>[CELLRANGE]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l"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 Black" panose="020B0004020202020204" pitchFamily="34" charset="0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19789203819716"/>
                      <c:h val="8.709115347812397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590A-4498-9FB8-D936836F49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l">
                  <a:defRPr sz="12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'01 - Effects'!$I$10:$I$18</c:f>
              <c:strCache>
                <c:ptCount val="9"/>
                <c:pt idx="0">
                  <c:v>CA N-1</c:v>
                </c:pt>
                <c:pt idx="1">
                  <c:v>Effet Distribution</c:v>
                </c:pt>
                <c:pt idx="2">
                  <c:v>Effet Volume magasin</c:v>
                </c:pt>
                <c:pt idx="3">
                  <c:v>Effet prix pur</c:v>
                </c:pt>
                <c:pt idx="4">
                  <c:v>Effet mix distributeur</c:v>
                </c:pt>
                <c:pt idx="5">
                  <c:v>Effet canal</c:v>
                </c:pt>
                <c:pt idx="6">
                  <c:v>Effet région</c:v>
                </c:pt>
                <c:pt idx="7">
                  <c:v>Effet produit</c:v>
                </c:pt>
                <c:pt idx="8">
                  <c:v>CA N</c:v>
                </c:pt>
              </c:strCache>
            </c:strRef>
          </c:cat>
          <c:val>
            <c:numRef>
              <c:f>'01 - Effects'!$N$10:$N$18</c:f>
              <c:numCache>
                <c:formatCode>#,##0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'01 - Effects'!$O$10:$O$18</c15:f>
                <c15:dlblRangeCache>
                  <c:ptCount val="9"/>
                  <c:pt idx="0">
                    <c:v>448M€</c:v>
                  </c:pt>
                  <c:pt idx="1">
                    <c:v>-14,8M€ (-3,3%)</c:v>
                  </c:pt>
                  <c:pt idx="2">
                    <c:v>-59,5M€ (-13,3%)</c:v>
                  </c:pt>
                  <c:pt idx="3">
                    <c:v>+22,7M€ (+5,1%)</c:v>
                  </c:pt>
                  <c:pt idx="4">
                    <c:v>-</c:v>
                  </c:pt>
                  <c:pt idx="5">
                    <c:v>+361K€ (+0,1%)</c:v>
                  </c:pt>
                  <c:pt idx="6">
                    <c:v>-</c:v>
                  </c:pt>
                  <c:pt idx="7">
                    <c:v>+2,6M€ (+0,6%)</c:v>
                  </c:pt>
                  <c:pt idx="8">
                    <c:v>400M€ (-10,8%)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590A-4498-9FB8-D936836F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9327968"/>
        <c:axId val="69316928"/>
      </c:barChart>
      <c:catAx>
        <c:axId val="693279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69316928"/>
        <c:crosses val="autoZero"/>
        <c:auto val="1"/>
        <c:lblAlgn val="ctr"/>
        <c:lblOffset val="100"/>
        <c:noMultiLvlLbl val="0"/>
      </c:catAx>
      <c:valAx>
        <c:axId val="69316928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69327968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fr-FR"/>
    </a:p>
  </c:txPr>
  <c:externalData r:id="rId3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1"/>
          <c:order val="0"/>
          <c:tx>
            <c:strRef>
              <c:f>'01 - Effects'!$W$9</c:f>
              <c:strCache>
                <c:ptCount val="1"/>
                <c:pt idx="0">
                  <c:v>Effets prix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xVal>
            <c:numRef>
              <c:f>'01 - Effects'!$U$10:$U$231</c:f>
              <c:numCache>
                <c:formatCode>\+0\p\p;\-0\p\p;\-</c:formatCode>
                <c:ptCount val="222"/>
                <c:pt idx="0">
                  <c:v>-16.548739273309767</c:v>
                </c:pt>
                <c:pt idx="1">
                  <c:v>-4.0851076927715173</c:v>
                </c:pt>
                <c:pt idx="2">
                  <c:v>17.755944992076593</c:v>
                </c:pt>
                <c:pt idx="3">
                  <c:v>6.9223595751169018</c:v>
                </c:pt>
                <c:pt idx="4">
                  <c:v>28.331706135199784</c:v>
                </c:pt>
                <c:pt idx="5">
                  <c:v>-19.087469095226837</c:v>
                </c:pt>
                <c:pt idx="6">
                  <c:v>5.0154576455765909</c:v>
                </c:pt>
                <c:pt idx="7">
                  <c:v>17.340442157914151</c:v>
                </c:pt>
                <c:pt idx="8">
                  <c:v>3.8531523486119825</c:v>
                </c:pt>
                <c:pt idx="9">
                  <c:v>-8.9057543062177746</c:v>
                </c:pt>
                <c:pt idx="10">
                  <c:v>17.619262847660416</c:v>
                </c:pt>
                <c:pt idx="11">
                  <c:v>468.60466466706328</c:v>
                </c:pt>
                <c:pt idx="12">
                  <c:v>-11.372833555415893</c:v>
                </c:pt>
                <c:pt idx="13">
                  <c:v>62.506199603534881</c:v>
                </c:pt>
                <c:pt idx="14">
                  <c:v>108.0276653242765</c:v>
                </c:pt>
                <c:pt idx="15">
                  <c:v>-51.41192318395349</c:v>
                </c:pt>
                <c:pt idx="16">
                  <c:v>-31.58928574072965</c:v>
                </c:pt>
                <c:pt idx="17">
                  <c:v>5.9447216593976888</c:v>
                </c:pt>
                <c:pt idx="18">
                  <c:v>720.51721948053307</c:v>
                </c:pt>
                <c:pt idx="19">
                  <c:v>-5.2030943611063369</c:v>
                </c:pt>
                <c:pt idx="20">
                  <c:v>-14.807458323453956</c:v>
                </c:pt>
                <c:pt idx="21">
                  <c:v>337.4434541875371</c:v>
                </c:pt>
                <c:pt idx="22">
                  <c:v>13.802926704191796</c:v>
                </c:pt>
                <c:pt idx="23">
                  <c:v>74.458309001979387</c:v>
                </c:pt>
                <c:pt idx="24">
                  <c:v>-49.522361351886687</c:v>
                </c:pt>
                <c:pt idx="25">
                  <c:v>18.67370446328426</c:v>
                </c:pt>
                <c:pt idx="26">
                  <c:v>-11.970927434236287</c:v>
                </c:pt>
                <c:pt idx="27">
                  <c:v>16.63217038806631</c:v>
                </c:pt>
                <c:pt idx="28">
                  <c:v>-24.833657068742657</c:v>
                </c:pt>
                <c:pt idx="29">
                  <c:v>69.324352800678895</c:v>
                </c:pt>
                <c:pt idx="30">
                  <c:v>-2.563781415348366</c:v>
                </c:pt>
                <c:pt idx="31">
                  <c:v>-2.1485064408756207</c:v>
                </c:pt>
                <c:pt idx="32">
                  <c:v>-16.787373512323363</c:v>
                </c:pt>
                <c:pt idx="33">
                  <c:v>-71.413789989611729</c:v>
                </c:pt>
                <c:pt idx="34">
                  <c:v>54.583568590096164</c:v>
                </c:pt>
                <c:pt idx="35">
                  <c:v>51.438191374930398</c:v>
                </c:pt>
                <c:pt idx="36">
                  <c:v>131.50008259619653</c:v>
                </c:pt>
                <c:pt idx="37">
                  <c:v>77.005944914356917</c:v>
                </c:pt>
                <c:pt idx="38">
                  <c:v>-30.139218093518348</c:v>
                </c:pt>
                <c:pt idx="39">
                  <c:v>-15.295965763694429</c:v>
                </c:pt>
                <c:pt idx="40">
                  <c:v>-80.087338526248047</c:v>
                </c:pt>
                <c:pt idx="41">
                  <c:v>59.288314624020607</c:v>
                </c:pt>
                <c:pt idx="42">
                  <c:v>90.89802274729594</c:v>
                </c:pt>
                <c:pt idx="43">
                  <c:v>584.38389753391209</c:v>
                </c:pt>
                <c:pt idx="44">
                  <c:v>-65.290430413304335</c:v>
                </c:pt>
                <c:pt idx="45">
                  <c:v>-68.040460375065464</c:v>
                </c:pt>
                <c:pt idx="46">
                  <c:v>271.53581823279956</c:v>
                </c:pt>
                <c:pt idx="47">
                  <c:v>-2.2569521085465465E-14</c:v>
                </c:pt>
                <c:pt idx="48">
                  <c:v>0</c:v>
                </c:pt>
                <c:pt idx="49">
                  <c:v>-100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-100</c:v>
                </c:pt>
              </c:numCache>
            </c:numRef>
          </c:xVal>
          <c:yVal>
            <c:numRef>
              <c:f>'01 - Effects'!$W$10:$W$231</c:f>
              <c:numCache>
                <c:formatCode>\+0\p\p;\-0\p\p;\-</c:formatCode>
                <c:ptCount val="222"/>
                <c:pt idx="0">
                  <c:v>#N/A</c:v>
                </c:pt>
                <c:pt idx="1">
                  <c:v>7.6376597636876387</c:v>
                </c:pt>
                <c:pt idx="2">
                  <c:v>3.5289706691356102</c:v>
                </c:pt>
                <c:pt idx="3">
                  <c:v>7.0994495553861254</c:v>
                </c:pt>
                <c:pt idx="4">
                  <c:v>-7.5612555963594481</c:v>
                </c:pt>
                <c:pt idx="5">
                  <c:v>3.2012297648497112</c:v>
                </c:pt>
                <c:pt idx="6">
                  <c:v>1.4612220026651255</c:v>
                </c:pt>
                <c:pt idx="7">
                  <c:v>5.5135386172977192</c:v>
                </c:pt>
                <c:pt idx="8">
                  <c:v>2.4918465540634487</c:v>
                </c:pt>
                <c:pt idx="9">
                  <c:v>15.299961767724923</c:v>
                </c:pt>
                <c:pt idx="10">
                  <c:v>7.0000086602081097</c:v>
                </c:pt>
                <c:pt idx="11">
                  <c:v>-99.579308959688419</c:v>
                </c:pt>
                <c:pt idx="12">
                  <c:v>1.4644787511932329</c:v>
                </c:pt>
                <c:pt idx="13">
                  <c:v>6.3754103670425391</c:v>
                </c:pt>
                <c:pt idx="14">
                  <c:v>-39.984357855063081</c:v>
                </c:pt>
                <c:pt idx="15">
                  <c:v>14.83059106539705</c:v>
                </c:pt>
                <c:pt idx="16">
                  <c:v>7.5499124389367998</c:v>
                </c:pt>
                <c:pt idx="17">
                  <c:v>-1.5171317396810049</c:v>
                </c:pt>
                <c:pt idx="18">
                  <c:v>-36.890884432185779</c:v>
                </c:pt>
                <c:pt idx="19">
                  <c:v>0.86400130139273634</c:v>
                </c:pt>
                <c:pt idx="20">
                  <c:v>1.1755681345516042</c:v>
                </c:pt>
                <c:pt idx="21">
                  <c:v>94.901266446452894</c:v>
                </c:pt>
                <c:pt idx="22">
                  <c:v>0.60208645889629631</c:v>
                </c:pt>
                <c:pt idx="23">
                  <c:v>-22.796598359855764</c:v>
                </c:pt>
                <c:pt idx="24">
                  <c:v>3.8585212884465738</c:v>
                </c:pt>
                <c:pt idx="25">
                  <c:v>0.97131121959951783</c:v>
                </c:pt>
                <c:pt idx="26">
                  <c:v>4.6129529118278461</c:v>
                </c:pt>
                <c:pt idx="27">
                  <c:v>-8.739278335342398</c:v>
                </c:pt>
                <c:pt idx="28">
                  <c:v>-2.2170747191898657</c:v>
                </c:pt>
                <c:pt idx="29">
                  <c:v>-3.4801201261464327</c:v>
                </c:pt>
                <c:pt idx="30">
                  <c:v>0.98845846928277514</c:v>
                </c:pt>
                <c:pt idx="31">
                  <c:v>5.9341005621936986</c:v>
                </c:pt>
                <c:pt idx="32">
                  <c:v>0.42723655747240136</c:v>
                </c:pt>
                <c:pt idx="33">
                  <c:v>-0.1428732951958189</c:v>
                </c:pt>
                <c:pt idx="34">
                  <c:v>-9.6036874303128101</c:v>
                </c:pt>
                <c:pt idx="35">
                  <c:v>8.9674222787867244</c:v>
                </c:pt>
                <c:pt idx="36">
                  <c:v>-21.193578023313499</c:v>
                </c:pt>
                <c:pt idx="37">
                  <c:v>1.6459991289911924</c:v>
                </c:pt>
                <c:pt idx="38">
                  <c:v>3.1291341422387862</c:v>
                </c:pt>
                <c:pt idx="39">
                  <c:v>9.6506286544276652</c:v>
                </c:pt>
                <c:pt idx="40">
                  <c:v>3.3820028368885495</c:v>
                </c:pt>
                <c:pt idx="41">
                  <c:v>-3.8916568499384283</c:v>
                </c:pt>
                <c:pt idx="42">
                  <c:v>2.5382816058884861</c:v>
                </c:pt>
                <c:pt idx="43">
                  <c:v>57.744341727839299</c:v>
                </c:pt>
                <c:pt idx="44">
                  <c:v>11.845465410387643</c:v>
                </c:pt>
                <c:pt idx="45">
                  <c:v>6.6875699167193448</c:v>
                </c:pt>
                <c:pt idx="46">
                  <c:v>69.585581796073356</c:v>
                </c:pt>
                <c:pt idx="47">
                  <c:v>-4.7626607397999718</c:v>
                </c:pt>
                <c:pt idx="48">
                  <c:v>16.675931072818226</c:v>
                </c:pt>
                <c:pt idx="49">
                  <c:v>0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0</c:v>
                </c:pt>
              </c:numCache>
            </c:numRef>
          </c:yVal>
          <c:bubbleSize>
            <c:numRef>
              <c:f>'01 - Effects'!$X$10:$X$231</c:f>
              <c:numCache>
                <c:formatCode>General</c:formatCode>
                <c:ptCount val="222"/>
                <c:pt idx="0" formatCode="&quot;€&quot;#,##0.00_);[Red]\(&quot;€&quot;#,##0.00\)">
                  <c:v>340485426.9826721</c:v>
                </c:pt>
                <c:pt idx="1">
                  <c:v>141868884.45423883</c:v>
                </c:pt>
                <c:pt idx="2">
                  <c:v>74837964.479357719</c:v>
                </c:pt>
                <c:pt idx="3">
                  <c:v>60948724.574963495</c:v>
                </c:pt>
                <c:pt idx="4">
                  <c:v>26288802.105443653</c:v>
                </c:pt>
                <c:pt idx="5">
                  <c:v>5736985.0589813944</c:v>
                </c:pt>
                <c:pt idx="6">
                  <c:v>6130490.6508623846</c:v>
                </c:pt>
                <c:pt idx="7">
                  <c:v>3116405.5305161187</c:v>
                </c:pt>
                <c:pt idx="8">
                  <c:v>2354132.9254735545</c:v>
                </c:pt>
                <c:pt idx="9">
                  <c:v>1950301.961177469</c:v>
                </c:pt>
                <c:pt idx="10">
                  <c:v>1581894.0287155693</c:v>
                </c:pt>
                <c:pt idx="11">
                  <c:v>2296864.0487405891</c:v>
                </c:pt>
                <c:pt idx="12">
                  <c:v>984805.88030086248</c:v>
                </c:pt>
                <c:pt idx="13">
                  <c:v>1334124.6939532226</c:v>
                </c:pt>
                <c:pt idx="14">
                  <c:v>881860.81525430596</c:v>
                </c:pt>
                <c:pt idx="15">
                  <c:v>490417.66767336434</c:v>
                </c:pt>
                <c:pt idx="16" formatCode="\+#\ ##0\ &quot;K€&quot;;\-#\ ##0\ &quot;K€&quot;;\-">
                  <c:v>461781.95504230383</c:v>
                </c:pt>
                <c:pt idx="17" formatCode="\+#\ ##0\ &quot;K€&quot;;\-#\ ##0\ &quot;K€&quot;;\-">
                  <c:v>540364.70150368381</c:v>
                </c:pt>
                <c:pt idx="18" formatCode="\+#\ ##0\ &quot;K€&quot;;\-#\ ##0\ &quot;K€&quot;;\-">
                  <c:v>927427.18249555072</c:v>
                </c:pt>
                <c:pt idx="19" formatCode="\+#\ ##0\ &quot;K€&quot;;\-#\ ##0\ &quot;K€&quot;;\-">
                  <c:v>441765.42884832853</c:v>
                </c:pt>
                <c:pt idx="20" formatCode="\+#\ ##0\ &quot;K€&quot;;\-#\ ##0\ &quot;K€&quot;;\-">
                  <c:v>306748.36222495505</c:v>
                </c:pt>
                <c:pt idx="21" formatCode="\+#\ ##0\ &quot;K€&quot;;\-#\ ##0\ &quot;K€&quot;;\-">
                  <c:v>497333.27558943327</c:v>
                </c:pt>
                <c:pt idx="22" formatCode="\+#\ ##0\ &quot;K€&quot;;\-#\ ##0\ &quot;K€&quot;;\-">
                  <c:v>333581.00812652119</c:v>
                </c:pt>
                <c:pt idx="23" formatCode="\+#\ ##0\ &quot;K€&quot;;\-#\ ##0\ &quot;K€&quot;;\-">
                  <c:v>354128.58909094316</c:v>
                </c:pt>
                <c:pt idx="24" formatCode="\+#\ ##0\ &quot;K€&quot;;\-#\ ##0\ &quot;K€&quot;;\-">
                  <c:v>124982.44952351591</c:v>
                </c:pt>
                <c:pt idx="25" formatCode="\+#\ ##0\ &quot;K€&quot;;\-#\ ##0\ &quot;K€&quot;;\-">
                  <c:v>228774.0568635333</c:v>
                </c:pt>
                <c:pt idx="26" formatCode="\+#\ ##0\ &quot;K€&quot;;\-#\ ##0\ &quot;K€&quot;;\-">
                  <c:v>210189.24527444778</c:v>
                </c:pt>
                <c:pt idx="27" formatCode="\+#\ ##0\ &quot;K€&quot;;\-#\ ##0\ &quot;K€&quot;;\-">
                  <c:v>195531.03933606145</c:v>
                </c:pt>
                <c:pt idx="28" formatCode="\+#\ ##0\ &quot;K€&quot;;\-#\ ##0\ &quot;K€&quot;;\-">
                  <c:v>74356.001945975266</c:v>
                </c:pt>
                <c:pt idx="29" formatCode="\+#\ ##0\ &quot;K€&quot;;\-#\ ##0\ &quot;K€&quot;;\-">
                  <c:v>89266.250567943571</c:v>
                </c:pt>
                <c:pt idx="30" formatCode="\+#\ ##0\ &quot;K€&quot;;\-#\ ##0\ &quot;K€&quot;;\-">
                  <c:v>100581.84402576793</c:v>
                </c:pt>
                <c:pt idx="31" formatCode="\+#\ ##0\ &quot;K€&quot;;\-#\ ##0\ &quot;K€&quot;;\-">
                  <c:v>61216.983082192353</c:v>
                </c:pt>
                <c:pt idx="32" formatCode="\+#\ ##0\ &quot;K€&quot;;\-#\ ##0\ &quot;K€&quot;;\-">
                  <c:v>89231.163059463506</c:v>
                </c:pt>
                <c:pt idx="33" formatCode="\+#\ ##0\ &quot;K€&quot;;\-#\ ##0\ &quot;K€&quot;;\-">
                  <c:v>13190.785168324961</c:v>
                </c:pt>
                <c:pt idx="34" formatCode="\+#\ ##0\ &quot;K€&quot;;\-#\ ##0\ &quot;K€&quot;;\-">
                  <c:v>61911.423512267575</c:v>
                </c:pt>
                <c:pt idx="35" formatCode="\+#\ ##0\ &quot;K€&quot;;\-#\ ##0\ &quot;K€&quot;;\-">
                  <c:v>21945.704752342172</c:v>
                </c:pt>
                <c:pt idx="36" formatCode="\+#\ ##0\ &quot;K€&quot;;\-#\ ##0\ &quot;K€&quot;;\-">
                  <c:v>47211.819668241849</c:v>
                </c:pt>
                <c:pt idx="37" formatCode="\+#\ ##0\ &quot;K€&quot;;\-#\ ##0\ &quot;K€&quot;;\-">
                  <c:v>34164.83584483782</c:v>
                </c:pt>
                <c:pt idx="38" formatCode="\+#\ ##0\ &quot;K€&quot;;\-#\ ##0\ &quot;K€&quot;;\-">
                  <c:v>-14463.303267173858</c:v>
                </c:pt>
                <c:pt idx="39" formatCode="\+#\ ##0\ &quot;K€&quot;;\-#\ ##0\ &quot;K€&quot;;\-">
                  <c:v>8706.1361919843548</c:v>
                </c:pt>
                <c:pt idx="40" formatCode="\+#\ ##0\ &quot;K€&quot;;\-#\ ##0\ &quot;K€&quot;;\-">
                  <c:v>-3895.1372786103311</c:v>
                </c:pt>
                <c:pt idx="41" formatCode="\+#\ ##0\ &quot;K€&quot;;\-#\ ##0\ &quot;K€&quot;;\-">
                  <c:v>5098.8332434181084</c:v>
                </c:pt>
                <c:pt idx="42" formatCode="\+#\ ##0\ &quot;K€&quot;;\-#\ ##0\ &quot;K€&quot;;\-">
                  <c:v>10354.569447173755</c:v>
                </c:pt>
                <c:pt idx="43" formatCode="\+#\ ##0\ &quot;K€&quot;;\-#\ ##0\ &quot;K€&quot;;\-">
                  <c:v>-2033.1496892530854</c:v>
                </c:pt>
                <c:pt idx="44" formatCode="\+#\ ##0\ &quot;K€&quot;;\-#\ ##0\ &quot;K€&quot;;\-">
                  <c:v>-2433.9094826699256</c:v>
                </c:pt>
                <c:pt idx="45" formatCode="\+#\ ##0\ &quot;K€&quot;;\-#\ ##0\ &quot;K€&quot;;\-">
                  <c:v>29.675184296331508</c:v>
                </c:pt>
                <c:pt idx="46" formatCode="\+#\ ##0\ &quot;K€&quot;;\-#\ ##0\ &quot;K€&quot;;\-">
                  <c:v>741.8212331386319</c:v>
                </c:pt>
                <c:pt idx="47" formatCode="\+#\ ##0\ &quot;K€&quot;;\-#\ ##0\ &quot;K€&quot;;\-">
                  <c:v>191.84756717957157</c:v>
                </c:pt>
                <c:pt idx="48" formatCode="\+#\ ##0\ &quot;K€&quot;;\-#\ ##0\ &quot;K€&quot;;\-">
                  <c:v>25.769314177838595</c:v>
                </c:pt>
                <c:pt idx="49" formatCode="\+#\ ##0\ &quot;K€&quot;;\-#\ ##0\ &quot;K€&quot;;\-">
                  <c:v>0</c:v>
                </c:pt>
                <c:pt idx="50" formatCode="\+#\ ##0\ &quot;K€&quot;;\-#\ ##0\ &quot;K€&quot;;\-">
                  <c:v>0</c:v>
                </c:pt>
                <c:pt idx="51" formatCode="\+#\ ##0\ &quot;K€&quot;;\-#\ ##0\ &quot;K€&quot;;\-">
                  <c:v>0</c:v>
                </c:pt>
                <c:pt idx="52" formatCode="\+#\ ##0\ &quot;K€&quot;;\-#\ ##0\ &quot;K€&quot;;\-">
                  <c:v>0</c:v>
                </c:pt>
                <c:pt idx="53" formatCode="\+#\ ##0\ &quot;K€&quot;;\-#\ ##0\ &quot;K€&quot;;\-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1E6-4E74-A89D-C160171A7A62}"/>
            </c:ext>
          </c:extLst>
        </c:ser>
        <c:ser>
          <c:idx val="0"/>
          <c:order val="1"/>
          <c:tx>
            <c:strRef>
              <c:f>'01 - Effects'!$V$9</c:f>
              <c:strCache>
                <c:ptCount val="1"/>
                <c:pt idx="0">
                  <c:v>Effets prix</c:v>
                </c:pt>
              </c:strCache>
            </c:strRef>
          </c:tx>
          <c:spPr>
            <a:solidFill>
              <a:schemeClr val="accent4"/>
            </a:solidFill>
            <a:ln w="57150">
              <a:solidFill>
                <a:schemeClr val="accent4"/>
              </a:solidFill>
            </a:ln>
            <a:effectLst/>
          </c:spPr>
          <c:invertIfNegative val="0"/>
          <c:xVal>
            <c:numRef>
              <c:f>'01 - Effects'!$U$10:$U$231</c:f>
              <c:numCache>
                <c:formatCode>\+0\p\p;\-0\p\p;\-</c:formatCode>
                <c:ptCount val="222"/>
                <c:pt idx="0">
                  <c:v>-16.548739273309767</c:v>
                </c:pt>
                <c:pt idx="1">
                  <c:v>-4.0851076927715173</c:v>
                </c:pt>
                <c:pt idx="2">
                  <c:v>17.755944992076593</c:v>
                </c:pt>
                <c:pt idx="3">
                  <c:v>6.9223595751169018</c:v>
                </c:pt>
                <c:pt idx="4">
                  <c:v>28.331706135199784</c:v>
                </c:pt>
                <c:pt idx="5">
                  <c:v>-19.087469095226837</c:v>
                </c:pt>
                <c:pt idx="6">
                  <c:v>5.0154576455765909</c:v>
                </c:pt>
                <c:pt idx="7">
                  <c:v>17.340442157914151</c:v>
                </c:pt>
                <c:pt idx="8">
                  <c:v>3.8531523486119825</c:v>
                </c:pt>
                <c:pt idx="9">
                  <c:v>-8.9057543062177746</c:v>
                </c:pt>
                <c:pt idx="10">
                  <c:v>17.619262847660416</c:v>
                </c:pt>
                <c:pt idx="11">
                  <c:v>468.60466466706328</c:v>
                </c:pt>
                <c:pt idx="12">
                  <c:v>-11.372833555415893</c:v>
                </c:pt>
                <c:pt idx="13">
                  <c:v>62.506199603534881</c:v>
                </c:pt>
                <c:pt idx="14">
                  <c:v>108.0276653242765</c:v>
                </c:pt>
                <c:pt idx="15">
                  <c:v>-51.41192318395349</c:v>
                </c:pt>
                <c:pt idx="16">
                  <c:v>-31.58928574072965</c:v>
                </c:pt>
                <c:pt idx="17">
                  <c:v>5.9447216593976888</c:v>
                </c:pt>
                <c:pt idx="18">
                  <c:v>720.51721948053307</c:v>
                </c:pt>
                <c:pt idx="19">
                  <c:v>-5.2030943611063369</c:v>
                </c:pt>
                <c:pt idx="20">
                  <c:v>-14.807458323453956</c:v>
                </c:pt>
                <c:pt idx="21">
                  <c:v>337.4434541875371</c:v>
                </c:pt>
                <c:pt idx="22">
                  <c:v>13.802926704191796</c:v>
                </c:pt>
                <c:pt idx="23">
                  <c:v>74.458309001979387</c:v>
                </c:pt>
                <c:pt idx="24">
                  <c:v>-49.522361351886687</c:v>
                </c:pt>
                <c:pt idx="25">
                  <c:v>18.67370446328426</c:v>
                </c:pt>
                <c:pt idx="26">
                  <c:v>-11.970927434236287</c:v>
                </c:pt>
                <c:pt idx="27">
                  <c:v>16.63217038806631</c:v>
                </c:pt>
                <c:pt idx="28">
                  <c:v>-24.833657068742657</c:v>
                </c:pt>
                <c:pt idx="29">
                  <c:v>69.324352800678895</c:v>
                </c:pt>
                <c:pt idx="30">
                  <c:v>-2.563781415348366</c:v>
                </c:pt>
                <c:pt idx="31">
                  <c:v>-2.1485064408756207</c:v>
                </c:pt>
                <c:pt idx="32">
                  <c:v>-16.787373512323363</c:v>
                </c:pt>
                <c:pt idx="33">
                  <c:v>-71.413789989611729</c:v>
                </c:pt>
                <c:pt idx="34">
                  <c:v>54.583568590096164</c:v>
                </c:pt>
                <c:pt idx="35">
                  <c:v>51.438191374930398</c:v>
                </c:pt>
                <c:pt idx="36">
                  <c:v>131.50008259619653</c:v>
                </c:pt>
                <c:pt idx="37">
                  <c:v>77.005944914356917</c:v>
                </c:pt>
                <c:pt idx="38">
                  <c:v>-30.139218093518348</c:v>
                </c:pt>
                <c:pt idx="39">
                  <c:v>-15.295965763694429</c:v>
                </c:pt>
                <c:pt idx="40">
                  <c:v>-80.087338526248047</c:v>
                </c:pt>
                <c:pt idx="41">
                  <c:v>59.288314624020607</c:v>
                </c:pt>
                <c:pt idx="42">
                  <c:v>90.89802274729594</c:v>
                </c:pt>
                <c:pt idx="43">
                  <c:v>584.38389753391209</c:v>
                </c:pt>
                <c:pt idx="44">
                  <c:v>-65.290430413304335</c:v>
                </c:pt>
                <c:pt idx="45">
                  <c:v>-68.040460375065464</c:v>
                </c:pt>
                <c:pt idx="46">
                  <c:v>271.53581823279956</c:v>
                </c:pt>
                <c:pt idx="47">
                  <c:v>-2.2569521085465465E-14</c:v>
                </c:pt>
                <c:pt idx="48">
                  <c:v>0</c:v>
                </c:pt>
                <c:pt idx="49">
                  <c:v>-100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-100</c:v>
                </c:pt>
              </c:numCache>
            </c:numRef>
          </c:xVal>
          <c:yVal>
            <c:numRef>
              <c:f>'01 - Effects'!$V$10:$V$231</c:f>
              <c:numCache>
                <c:formatCode>\+0\p\p;\-0\p\p;\-</c:formatCode>
                <c:ptCount val="222"/>
                <c:pt idx="0">
                  <c:v>5.7403604250731082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</c:numCache>
            </c:numRef>
          </c:yVal>
          <c:bubbleSize>
            <c:numRef>
              <c:f>'01 - Effects'!$X$10:$X$231</c:f>
              <c:numCache>
                <c:formatCode>General</c:formatCode>
                <c:ptCount val="222"/>
                <c:pt idx="0" formatCode="&quot;€&quot;#,##0.00_);[Red]\(&quot;€&quot;#,##0.00\)">
                  <c:v>340485426.9826721</c:v>
                </c:pt>
                <c:pt idx="1">
                  <c:v>141868884.45423883</c:v>
                </c:pt>
                <c:pt idx="2">
                  <c:v>74837964.479357719</c:v>
                </c:pt>
                <c:pt idx="3">
                  <c:v>60948724.574963495</c:v>
                </c:pt>
                <c:pt idx="4">
                  <c:v>26288802.105443653</c:v>
                </c:pt>
                <c:pt idx="5">
                  <c:v>5736985.0589813944</c:v>
                </c:pt>
                <c:pt idx="6">
                  <c:v>6130490.6508623846</c:v>
                </c:pt>
                <c:pt idx="7">
                  <c:v>3116405.5305161187</c:v>
                </c:pt>
                <c:pt idx="8">
                  <c:v>2354132.9254735545</c:v>
                </c:pt>
                <c:pt idx="9">
                  <c:v>1950301.961177469</c:v>
                </c:pt>
                <c:pt idx="10">
                  <c:v>1581894.0287155693</c:v>
                </c:pt>
                <c:pt idx="11">
                  <c:v>2296864.0487405891</c:v>
                </c:pt>
                <c:pt idx="12">
                  <c:v>984805.88030086248</c:v>
                </c:pt>
                <c:pt idx="13">
                  <c:v>1334124.6939532226</c:v>
                </c:pt>
                <c:pt idx="14">
                  <c:v>881860.81525430596</c:v>
                </c:pt>
                <c:pt idx="15">
                  <c:v>490417.66767336434</c:v>
                </c:pt>
                <c:pt idx="16" formatCode="\+#\ ##0\ &quot;K€&quot;;\-#\ ##0\ &quot;K€&quot;;\-">
                  <c:v>461781.95504230383</c:v>
                </c:pt>
                <c:pt idx="17" formatCode="\+#\ ##0\ &quot;K€&quot;;\-#\ ##0\ &quot;K€&quot;;\-">
                  <c:v>540364.70150368381</c:v>
                </c:pt>
                <c:pt idx="18" formatCode="\+#\ ##0\ &quot;K€&quot;;\-#\ ##0\ &quot;K€&quot;;\-">
                  <c:v>927427.18249555072</c:v>
                </c:pt>
                <c:pt idx="19" formatCode="\+#\ ##0\ &quot;K€&quot;;\-#\ ##0\ &quot;K€&quot;;\-">
                  <c:v>441765.42884832853</c:v>
                </c:pt>
                <c:pt idx="20" formatCode="\+#\ ##0\ &quot;K€&quot;;\-#\ ##0\ &quot;K€&quot;;\-">
                  <c:v>306748.36222495505</c:v>
                </c:pt>
                <c:pt idx="21" formatCode="\+#\ ##0\ &quot;K€&quot;;\-#\ ##0\ &quot;K€&quot;;\-">
                  <c:v>497333.27558943327</c:v>
                </c:pt>
                <c:pt idx="22" formatCode="\+#\ ##0\ &quot;K€&quot;;\-#\ ##0\ &quot;K€&quot;;\-">
                  <c:v>333581.00812652119</c:v>
                </c:pt>
                <c:pt idx="23" formatCode="\+#\ ##0\ &quot;K€&quot;;\-#\ ##0\ &quot;K€&quot;;\-">
                  <c:v>354128.58909094316</c:v>
                </c:pt>
                <c:pt idx="24" formatCode="\+#\ ##0\ &quot;K€&quot;;\-#\ ##0\ &quot;K€&quot;;\-">
                  <c:v>124982.44952351591</c:v>
                </c:pt>
                <c:pt idx="25" formatCode="\+#\ ##0\ &quot;K€&quot;;\-#\ ##0\ &quot;K€&quot;;\-">
                  <c:v>228774.0568635333</c:v>
                </c:pt>
                <c:pt idx="26" formatCode="\+#\ ##0\ &quot;K€&quot;;\-#\ ##0\ &quot;K€&quot;;\-">
                  <c:v>210189.24527444778</c:v>
                </c:pt>
                <c:pt idx="27" formatCode="\+#\ ##0\ &quot;K€&quot;;\-#\ ##0\ &quot;K€&quot;;\-">
                  <c:v>195531.03933606145</c:v>
                </c:pt>
                <c:pt idx="28" formatCode="\+#\ ##0\ &quot;K€&quot;;\-#\ ##0\ &quot;K€&quot;;\-">
                  <c:v>74356.001945975266</c:v>
                </c:pt>
                <c:pt idx="29" formatCode="\+#\ ##0\ &quot;K€&quot;;\-#\ ##0\ &quot;K€&quot;;\-">
                  <c:v>89266.250567943571</c:v>
                </c:pt>
                <c:pt idx="30" formatCode="\+#\ ##0\ &quot;K€&quot;;\-#\ ##0\ &quot;K€&quot;;\-">
                  <c:v>100581.84402576793</c:v>
                </c:pt>
                <c:pt idx="31" formatCode="\+#\ ##0\ &quot;K€&quot;;\-#\ ##0\ &quot;K€&quot;;\-">
                  <c:v>61216.983082192353</c:v>
                </c:pt>
                <c:pt idx="32" formatCode="\+#\ ##0\ &quot;K€&quot;;\-#\ ##0\ &quot;K€&quot;;\-">
                  <c:v>89231.163059463506</c:v>
                </c:pt>
                <c:pt idx="33" formatCode="\+#\ ##0\ &quot;K€&quot;;\-#\ ##0\ &quot;K€&quot;;\-">
                  <c:v>13190.785168324961</c:v>
                </c:pt>
                <c:pt idx="34" formatCode="\+#\ ##0\ &quot;K€&quot;;\-#\ ##0\ &quot;K€&quot;;\-">
                  <c:v>61911.423512267575</c:v>
                </c:pt>
                <c:pt idx="35" formatCode="\+#\ ##0\ &quot;K€&quot;;\-#\ ##0\ &quot;K€&quot;;\-">
                  <c:v>21945.704752342172</c:v>
                </c:pt>
                <c:pt idx="36" formatCode="\+#\ ##0\ &quot;K€&quot;;\-#\ ##0\ &quot;K€&quot;;\-">
                  <c:v>47211.819668241849</c:v>
                </c:pt>
                <c:pt idx="37" formatCode="\+#\ ##0\ &quot;K€&quot;;\-#\ ##0\ &quot;K€&quot;;\-">
                  <c:v>34164.83584483782</c:v>
                </c:pt>
                <c:pt idx="38" formatCode="\+#\ ##0\ &quot;K€&quot;;\-#\ ##0\ &quot;K€&quot;;\-">
                  <c:v>-14463.303267173858</c:v>
                </c:pt>
                <c:pt idx="39" formatCode="\+#\ ##0\ &quot;K€&quot;;\-#\ ##0\ &quot;K€&quot;;\-">
                  <c:v>8706.1361919843548</c:v>
                </c:pt>
                <c:pt idx="40" formatCode="\+#\ ##0\ &quot;K€&quot;;\-#\ ##0\ &quot;K€&quot;;\-">
                  <c:v>-3895.1372786103311</c:v>
                </c:pt>
                <c:pt idx="41" formatCode="\+#\ ##0\ &quot;K€&quot;;\-#\ ##0\ &quot;K€&quot;;\-">
                  <c:v>5098.8332434181084</c:v>
                </c:pt>
                <c:pt idx="42" formatCode="\+#\ ##0\ &quot;K€&quot;;\-#\ ##0\ &quot;K€&quot;;\-">
                  <c:v>10354.569447173755</c:v>
                </c:pt>
                <c:pt idx="43" formatCode="\+#\ ##0\ &quot;K€&quot;;\-#\ ##0\ &quot;K€&quot;;\-">
                  <c:v>-2033.1496892530854</c:v>
                </c:pt>
                <c:pt idx="44" formatCode="\+#\ ##0\ &quot;K€&quot;;\-#\ ##0\ &quot;K€&quot;;\-">
                  <c:v>-2433.9094826699256</c:v>
                </c:pt>
                <c:pt idx="45" formatCode="\+#\ ##0\ &quot;K€&quot;;\-#\ ##0\ &quot;K€&quot;;\-">
                  <c:v>29.675184296331508</c:v>
                </c:pt>
                <c:pt idx="46" formatCode="\+#\ ##0\ &quot;K€&quot;;\-#\ ##0\ &quot;K€&quot;;\-">
                  <c:v>741.8212331386319</c:v>
                </c:pt>
                <c:pt idx="47" formatCode="\+#\ ##0\ &quot;K€&quot;;\-#\ ##0\ &quot;K€&quot;;\-">
                  <c:v>191.84756717957157</c:v>
                </c:pt>
                <c:pt idx="48" formatCode="\+#\ ##0\ &quot;K€&quot;;\-#\ ##0\ &quot;K€&quot;;\-">
                  <c:v>25.769314177838595</c:v>
                </c:pt>
                <c:pt idx="49" formatCode="\+#\ ##0\ &quot;K€&quot;;\-#\ ##0\ &quot;K€&quot;;\-">
                  <c:v>0</c:v>
                </c:pt>
                <c:pt idx="50" formatCode="\+#\ ##0\ &quot;K€&quot;;\-#\ ##0\ &quot;K€&quot;;\-">
                  <c:v>0</c:v>
                </c:pt>
                <c:pt idx="51" formatCode="\+#\ ##0\ &quot;K€&quot;;\-#\ ##0\ &quot;K€&quot;;\-">
                  <c:v>0</c:v>
                </c:pt>
                <c:pt idx="52" formatCode="\+#\ ##0\ &quot;K€&quot;;\-#\ ##0\ &quot;K€&quot;;\-">
                  <c:v>0</c:v>
                </c:pt>
                <c:pt idx="53" formatCode="\+#\ ##0\ &quot;K€&quot;;\-#\ ##0\ &quot;K€&quot;;\-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D1E6-4E74-A89D-C160171A7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60"/>
        <c:showNegBubbles val="0"/>
        <c:axId val="1416531376"/>
        <c:axId val="1416528496"/>
      </c:bubbleChart>
      <c:valAx>
        <c:axId val="1416531376"/>
        <c:scaling>
          <c:orientation val="minMax"/>
          <c:max val="50"/>
          <c:min val="-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fr-FR"/>
                  <a:t>Effet 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fr-FR"/>
            </a:p>
          </c:txPr>
        </c:title>
        <c:numFmt formatCode="\+0\p\p;\-0\p\p;\-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dash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1416528496"/>
        <c:crosses val="autoZero"/>
        <c:crossBetween val="midCat"/>
      </c:valAx>
      <c:valAx>
        <c:axId val="1416528496"/>
        <c:scaling>
          <c:orientation val="minMax"/>
          <c:max val="20"/>
          <c:min val="-2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fr-FR"/>
                  <a:t>Effet prix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fr-FR"/>
            </a:p>
          </c:txPr>
        </c:title>
        <c:numFmt formatCode="\+0\p\p;\-0\p\p;\-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dash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141653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  <a:latin typeface="Aptos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DCD3-54CE-F759-F74B-C7ED231C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56DEA-7381-5CAD-93EE-C812A8190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AF48B-C6B1-9BA1-D1F7-01142C028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23C1-DE8B-3C79-7FB9-CE216E279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17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9.svg"/><Relationship Id="rId17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5" Type="http://schemas.openxmlformats.org/officeDocument/2006/relationships/image" Target="../media/image12.png"/><Relationship Id="rId10" Type="http://schemas.openxmlformats.org/officeDocument/2006/relationships/chart" Target="../charts/chart1.xml"/><Relationship Id="rId19" Type="http://schemas.openxmlformats.org/officeDocument/2006/relationships/image" Target="../media/image15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2663-DA54-E673-375C-80358955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FE08A7C-8911-5B64-1835-AABD37758495}"/>
              </a:ext>
            </a:extLst>
          </p:cNvPr>
          <p:cNvSpPr/>
          <p:nvPr/>
        </p:nvSpPr>
        <p:spPr>
          <a:xfrm>
            <a:off x="-1" y="1403928"/>
            <a:ext cx="12192001" cy="4985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0" name="Picture 29" descr="Documents on desk">
            <a:extLst>
              <a:ext uri="{FF2B5EF4-FFF2-40B4-BE49-F238E27FC236}">
                <a16:creationId xmlns:a16="http://schemas.microsoft.com/office/drawing/2014/main" id="{C056EA98-01BD-B28D-88B4-B42E3FD46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89"/>
          <a:stretch/>
        </p:blipFill>
        <p:spPr>
          <a:xfrm>
            <a:off x="6095998" y="0"/>
            <a:ext cx="609600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E2AE21-FF66-3D1B-89DD-62F3247BD93C}"/>
              </a:ext>
            </a:extLst>
          </p:cNvPr>
          <p:cNvSpPr/>
          <p:nvPr/>
        </p:nvSpPr>
        <p:spPr>
          <a:xfrm>
            <a:off x="6096003" y="0"/>
            <a:ext cx="6095998" cy="6858000"/>
          </a:xfrm>
          <a:prstGeom prst="rect">
            <a:avLst/>
          </a:prstGeom>
          <a:solidFill>
            <a:srgbClr val="303237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8C49E9-32B9-4CC6-43A5-68FC78919810}"/>
              </a:ext>
            </a:extLst>
          </p:cNvPr>
          <p:cNvGrpSpPr/>
          <p:nvPr/>
        </p:nvGrpSpPr>
        <p:grpSpPr>
          <a:xfrm>
            <a:off x="6594305" y="491349"/>
            <a:ext cx="5302520" cy="833178"/>
            <a:chOff x="6594305" y="491349"/>
            <a:chExt cx="5302520" cy="8331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EB0297-869E-1570-DD46-3861108361A1}"/>
                </a:ext>
              </a:extLst>
            </p:cNvPr>
            <p:cNvSpPr txBox="1"/>
            <p:nvPr/>
          </p:nvSpPr>
          <p:spPr>
            <a:xfrm>
              <a:off x="6988318" y="491349"/>
              <a:ext cx="4908507" cy="833178"/>
            </a:xfrm>
            <a:prstGeom prst="rect">
              <a:avLst/>
            </a:prstGeom>
            <a:noFill/>
          </p:spPr>
          <p:txBody>
            <a:bodyPr wrap="square" lIns="0" tIns="46800" rIns="0" bIns="46800" rtlCol="0" anchor="ctr">
              <a:spAutoFit/>
            </a:bodyPr>
            <a:lstStyle/>
            <a:p>
              <a:r>
                <a:rPr lang="fr-FR" sz="2400" b="1" noProof="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Performance de [Marque] sur le segment des [Segment]s.</a:t>
              </a:r>
              <a:endParaRPr lang="fr-FR" sz="2800" b="1" noProof="0" dirty="0">
                <a:solidFill>
                  <a:schemeClr val="accent1"/>
                </a:solidFill>
                <a:latin typeface="Aptos Black" panose="020B000402020202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798DC9D-104F-EEF1-820C-CDE5EEE8CA7F}"/>
                </a:ext>
              </a:extLst>
            </p:cNvPr>
            <p:cNvSpPr/>
            <p:nvPr/>
          </p:nvSpPr>
          <p:spPr>
            <a:xfrm>
              <a:off x="6594305" y="611296"/>
              <a:ext cx="226904" cy="2269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fr-FR" sz="1600" b="1" noProof="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11CC7AC-16B1-B0D7-4370-824527127237}"/>
              </a:ext>
            </a:extLst>
          </p:cNvPr>
          <p:cNvSpPr/>
          <p:nvPr/>
        </p:nvSpPr>
        <p:spPr>
          <a:xfrm>
            <a:off x="532932" y="6405694"/>
            <a:ext cx="5395957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Source : SAMMPO | Étude du </a:t>
            </a:r>
            <a:r>
              <a:rPr lang="fr-FR" sz="1100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sell</a:t>
            </a:r>
            <a:r>
              <a:rPr lang="fr-FR" sz="110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-out </a:t>
            </a:r>
            <a:r>
              <a:rPr lang="fr-FR" sz="1100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au [Fin] – A001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52B7B6-95CF-F915-D8C3-5165380667C8}"/>
              </a:ext>
            </a:extLst>
          </p:cNvPr>
          <p:cNvSpPr/>
          <p:nvPr/>
        </p:nvSpPr>
        <p:spPr>
          <a:xfrm>
            <a:off x="532932" y="611296"/>
            <a:ext cx="226904" cy="2269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C2BE2-FFF2-8095-DE3A-6A4133319ED8}"/>
              </a:ext>
            </a:extLst>
          </p:cNvPr>
          <p:cNvSpPr txBox="1"/>
          <p:nvPr/>
        </p:nvSpPr>
        <p:spPr>
          <a:xfrm>
            <a:off x="898070" y="246278"/>
            <a:ext cx="4976355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noProof="0" dirty="0">
                <a:latin typeface="Aptos" panose="020B0004020202020204" pitchFamily="34" charset="0"/>
              </a:rPr>
              <a:t>[</a:t>
            </a:r>
            <a:r>
              <a:rPr lang="fr-FR" sz="1600" noProof="0" dirty="0" err="1">
                <a:latin typeface="Aptos" panose="020B0004020202020204" pitchFamily="34" charset="0"/>
              </a:rPr>
              <a:t>S_Marque</a:t>
            </a:r>
            <a:r>
              <a:rPr lang="fr-FR" sz="1600" dirty="0">
                <a:latin typeface="Aptos" panose="020B0004020202020204" pitchFamily="34" charset="0"/>
              </a:rPr>
              <a:t>]</a:t>
            </a:r>
            <a:endParaRPr lang="fr-FR" sz="1600" noProof="0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A19C9-06A0-32AF-93FA-1D8961A8226A}"/>
              </a:ext>
            </a:extLst>
          </p:cNvPr>
          <p:cNvSpPr txBox="1"/>
          <p:nvPr/>
        </p:nvSpPr>
        <p:spPr>
          <a:xfrm>
            <a:off x="898070" y="492774"/>
            <a:ext cx="5030819" cy="833178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latin typeface="Aptos Black" panose="020B0004020202020204" pitchFamily="34" charset="0"/>
              </a:rPr>
              <a:t>Analyse détaillée de la croissance de [</a:t>
            </a:r>
            <a:r>
              <a:rPr lang="fr-FR" sz="2400" b="1" noProof="0">
                <a:latin typeface="Aptos Black" panose="020B0004020202020204" pitchFamily="34" charset="0"/>
              </a:rPr>
              <a:t>S_Marque</a:t>
            </a:r>
            <a:r>
              <a:rPr lang="fr-FR" sz="2400" b="1" noProof="0" dirty="0">
                <a:latin typeface="Aptos Black" panose="020B0004020202020204" pitchFamily="34" charset="0"/>
              </a:rPr>
              <a:t>].</a:t>
            </a:r>
          </a:p>
        </p:txBody>
      </p:sp>
      <p:pic>
        <p:nvPicPr>
          <p:cNvPr id="21" name="Graphic 20" descr="Inventory with solid fill">
            <a:extLst>
              <a:ext uri="{FF2B5EF4-FFF2-40B4-BE49-F238E27FC236}">
                <a16:creationId xmlns:a16="http://schemas.microsoft.com/office/drawing/2014/main" id="{55B1F74E-B29D-C7C1-AFFB-062E1E8C7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9229114" y="6414581"/>
            <a:ext cx="301072" cy="301072"/>
          </a:xfrm>
          <a:prstGeom prst="rect">
            <a:avLst/>
          </a:prstGeom>
        </p:spPr>
      </p:pic>
      <p:pic>
        <p:nvPicPr>
          <p:cNvPr id="19" name="Graphic 18" descr="Tag with solid fill">
            <a:extLst>
              <a:ext uri="{FF2B5EF4-FFF2-40B4-BE49-F238E27FC236}">
                <a16:creationId xmlns:a16="http://schemas.microsoft.com/office/drawing/2014/main" id="{1B5E4FD6-B234-3597-35BE-90DD5B721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2454" y="3947546"/>
            <a:ext cx="360032" cy="360032"/>
          </a:xfrm>
          <a:prstGeom prst="rect">
            <a:avLst/>
          </a:prstGeom>
        </p:spPr>
      </p:pic>
      <p:pic>
        <p:nvPicPr>
          <p:cNvPr id="23" name="Graphic 22" descr="Maximize with solid fill">
            <a:extLst>
              <a:ext uri="{FF2B5EF4-FFF2-40B4-BE49-F238E27FC236}">
                <a16:creationId xmlns:a16="http://schemas.microsoft.com/office/drawing/2014/main" id="{500FA851-D688-076F-9584-D43F12DBB0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01924" y="2564025"/>
            <a:ext cx="261664" cy="26166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599FD8D-1215-7F7C-E15A-67082434409E}"/>
              </a:ext>
            </a:extLst>
          </p:cNvPr>
          <p:cNvSpPr txBox="1"/>
          <p:nvPr/>
        </p:nvSpPr>
        <p:spPr>
          <a:xfrm>
            <a:off x="532932" y="1699230"/>
            <a:ext cx="5341491" cy="525401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400" b="1" noProof="0" dirty="0">
                <a:latin typeface="Aptos" panose="020B0004020202020204" pitchFamily="34" charset="0"/>
              </a:rPr>
              <a:t>Décomposition de la croissance du CA pour [</a:t>
            </a:r>
            <a:r>
              <a:rPr lang="fr-FR" sz="1400" b="1" noProof="0" dirty="0" err="1">
                <a:latin typeface="Aptos" panose="020B0004020202020204" pitchFamily="34" charset="0"/>
              </a:rPr>
              <a:t>S_Marque</a:t>
            </a:r>
            <a:r>
              <a:rPr lang="fr-FR" sz="1400" b="1" noProof="0" dirty="0">
                <a:latin typeface="Aptos" panose="020B0004020202020204" pitchFamily="34" charset="0"/>
              </a:rPr>
              <a:t>]</a:t>
            </a:r>
          </a:p>
          <a:p>
            <a:r>
              <a:rPr lang="fr-FR" sz="1400" i="1" noProof="0" dirty="0">
                <a:latin typeface="Aptos" panose="020B0004020202020204" pitchFamily="34" charset="0"/>
              </a:rPr>
              <a:t>Chaque effet est exprimé en gain ou perte de CA </a:t>
            </a:r>
            <a:r>
              <a:rPr lang="fr-FR" sz="1400" i="1" noProof="0" dirty="0" err="1">
                <a:latin typeface="Aptos" panose="020B0004020202020204" pitchFamily="34" charset="0"/>
              </a:rPr>
              <a:t>sell</a:t>
            </a:r>
            <a:r>
              <a:rPr lang="fr-FR" sz="1400" i="1" noProof="0" dirty="0">
                <a:latin typeface="Aptos" panose="020B0004020202020204" pitchFamily="34" charset="0"/>
              </a:rPr>
              <a:t>-out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AA2763E-DC18-3B8A-6BEC-9C78EF07B221}"/>
              </a:ext>
            </a:extLst>
          </p:cNvPr>
          <p:cNvSpPr/>
          <p:nvPr/>
        </p:nvSpPr>
        <p:spPr>
          <a:xfrm rot="16200000">
            <a:off x="2473660" y="975062"/>
            <a:ext cx="1376486" cy="5868196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12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D8E86D6-0BD2-7211-F292-AB87410D1192}"/>
              </a:ext>
            </a:extLst>
          </p:cNvPr>
          <p:cNvSpPr/>
          <p:nvPr/>
        </p:nvSpPr>
        <p:spPr>
          <a:xfrm rot="16200000">
            <a:off x="2876688" y="-18910"/>
            <a:ext cx="564200" cy="5874425"/>
          </a:xfrm>
          <a:prstGeom prst="rect">
            <a:avLst/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12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C3727DA-3310-BAD9-D75E-81E7820B0B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0397144"/>
              </p:ext>
            </p:extLst>
          </p:nvPr>
        </p:nvGraphicFramePr>
        <p:xfrm>
          <a:off x="532932" y="2276092"/>
          <a:ext cx="5341491" cy="2635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62959037-7CF3-682F-278F-2F54CDB0A2EB}"/>
              </a:ext>
            </a:extLst>
          </p:cNvPr>
          <p:cNvSpPr/>
          <p:nvPr/>
        </p:nvSpPr>
        <p:spPr>
          <a:xfrm rot="16200000">
            <a:off x="-171311" y="2807514"/>
            <a:ext cx="564200" cy="2215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ptos Black" panose="020B0004020202020204" pitchFamily="34" charset="0"/>
              </a:rPr>
              <a:t>[E_V]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A343656-CD22-D0CD-538A-6BBEF47AA0F8}"/>
              </a:ext>
            </a:extLst>
          </p:cNvPr>
          <p:cNvCxnSpPr/>
          <p:nvPr/>
        </p:nvCxnSpPr>
        <p:spPr>
          <a:xfrm>
            <a:off x="221574" y="2635250"/>
            <a:ext cx="5798225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463AE94-0225-0FD8-E75F-C8B28E48D591}"/>
              </a:ext>
            </a:extLst>
          </p:cNvPr>
          <p:cNvCxnSpPr/>
          <p:nvPr/>
        </p:nvCxnSpPr>
        <p:spPr>
          <a:xfrm>
            <a:off x="221574" y="3200400"/>
            <a:ext cx="5798225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A668CF2-0EF0-1D65-9E39-53354E0EC8D6}"/>
              </a:ext>
            </a:extLst>
          </p:cNvPr>
          <p:cNvCxnSpPr/>
          <p:nvPr/>
        </p:nvCxnSpPr>
        <p:spPr>
          <a:xfrm>
            <a:off x="221574" y="4597400"/>
            <a:ext cx="579822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Inventory with solid fill">
            <a:extLst>
              <a:ext uri="{FF2B5EF4-FFF2-40B4-BE49-F238E27FC236}">
                <a16:creationId xmlns:a16="http://schemas.microsoft.com/office/drawing/2014/main" id="{4035816E-3849-8C03-910C-AB3C3066F6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 flipV="1">
            <a:off x="280209" y="2744221"/>
            <a:ext cx="338338" cy="338338"/>
          </a:xfrm>
          <a:prstGeom prst="rect">
            <a:avLst/>
          </a:prstGeom>
        </p:spPr>
      </p:pic>
      <p:pic>
        <p:nvPicPr>
          <p:cNvPr id="63" name="Graphic 62" descr="Tag with solid fill">
            <a:extLst>
              <a:ext uri="{FF2B5EF4-FFF2-40B4-BE49-F238E27FC236}">
                <a16:creationId xmlns:a16="http://schemas.microsoft.com/office/drawing/2014/main" id="{6B6A127B-9114-43A6-CF4D-9F93FF7644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209" y="3729305"/>
            <a:ext cx="360032" cy="360032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EA24B811-4C06-B804-8AA8-29AF4A65A84A}"/>
              </a:ext>
            </a:extLst>
          </p:cNvPr>
          <p:cNvSpPr/>
          <p:nvPr/>
        </p:nvSpPr>
        <p:spPr>
          <a:xfrm rot="16200000">
            <a:off x="-577453" y="3798371"/>
            <a:ext cx="1376486" cy="2215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ptos Black" panose="020B0004020202020204" pitchFamily="34" charset="0"/>
              </a:rPr>
              <a:t>[E_P]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4253185-0E97-4EA2-B175-69CCCFA6029E}"/>
              </a:ext>
            </a:extLst>
          </p:cNvPr>
          <p:cNvGrpSpPr/>
          <p:nvPr/>
        </p:nvGrpSpPr>
        <p:grpSpPr>
          <a:xfrm>
            <a:off x="532931" y="5080000"/>
            <a:ext cx="5118569" cy="1037536"/>
            <a:chOff x="532931" y="5080000"/>
            <a:chExt cx="5118569" cy="1037536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9F25A839-2F67-D592-ECFC-07D59CD25F46}"/>
                </a:ext>
              </a:extLst>
            </p:cNvPr>
            <p:cNvSpPr/>
            <p:nvPr/>
          </p:nvSpPr>
          <p:spPr>
            <a:xfrm>
              <a:off x="532931" y="5080000"/>
              <a:ext cx="5118569" cy="1037536"/>
            </a:xfrm>
            <a:prstGeom prst="roundRect">
              <a:avLst>
                <a:gd name="adj" fmla="val 1115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endParaRPr lang="fr-FR" sz="1600" b="1" noProof="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199" name="Graphic 198" descr="Lights On with solid fill">
              <a:extLst>
                <a:ext uri="{FF2B5EF4-FFF2-40B4-BE49-F238E27FC236}">
                  <a16:creationId xmlns:a16="http://schemas.microsoft.com/office/drawing/2014/main" id="{A989A2C0-54FD-ED41-A927-DB3DCD4E4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69279" y="5297176"/>
              <a:ext cx="649920" cy="649920"/>
            </a:xfrm>
            <a:prstGeom prst="rect">
              <a:avLst/>
            </a:prstGeom>
          </p:spPr>
        </p:pic>
      </p:grpSp>
      <p:sp>
        <p:nvSpPr>
          <p:cNvPr id="201" name="TextBox 200">
            <a:extLst>
              <a:ext uri="{FF2B5EF4-FFF2-40B4-BE49-F238E27FC236}">
                <a16:creationId xmlns:a16="http://schemas.microsoft.com/office/drawing/2014/main" id="{C7F6617B-6E23-D001-8663-1C1EA27AEF11}"/>
              </a:ext>
            </a:extLst>
          </p:cNvPr>
          <p:cNvSpPr txBox="1"/>
          <p:nvPr/>
        </p:nvSpPr>
        <p:spPr>
          <a:xfrm>
            <a:off x="6594305" y="1699230"/>
            <a:ext cx="5302520" cy="525401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rPr>
              <a:t>Croissance des marques entre N-1 et N par effet prix / volume</a:t>
            </a:r>
          </a:p>
          <a:p>
            <a:r>
              <a:rPr lang="fr-FR" sz="1400" i="1" noProof="0" dirty="0">
                <a:solidFill>
                  <a:schemeClr val="bg1"/>
                </a:solidFill>
                <a:latin typeface="Aptos" panose="020B0004020202020204" pitchFamily="34" charset="0"/>
              </a:rPr>
              <a:t>Taille de la bulle = CA en 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BC09B4-DA7D-8276-731A-839CE5F32D72}"/>
              </a:ext>
            </a:extLst>
          </p:cNvPr>
          <p:cNvGrpSpPr/>
          <p:nvPr/>
        </p:nvGrpSpPr>
        <p:grpSpPr>
          <a:xfrm>
            <a:off x="7208651" y="2476500"/>
            <a:ext cx="4341999" cy="3365499"/>
            <a:chOff x="1408625" y="2638743"/>
            <a:chExt cx="6160576" cy="2955597"/>
          </a:xfrm>
        </p:grpSpPr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4217373B-FA04-0631-17F8-57CFC08E1481}"/>
                </a:ext>
              </a:extLst>
            </p:cNvPr>
            <p:cNvSpPr/>
            <p:nvPr/>
          </p:nvSpPr>
          <p:spPr>
            <a:xfrm>
              <a:off x="1408625" y="2638743"/>
              <a:ext cx="6160575" cy="2955597"/>
            </a:xfrm>
            <a:prstGeom prst="rtTriangle">
              <a:avLst/>
            </a:prstGeom>
            <a:solidFill>
              <a:schemeClr val="tx1">
                <a:lumMod val="90000"/>
                <a:lumOff val="1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kern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D08741F4-E44A-6952-80F9-9BF5B1F83E8D}"/>
                </a:ext>
              </a:extLst>
            </p:cNvPr>
            <p:cNvSpPr/>
            <p:nvPr/>
          </p:nvSpPr>
          <p:spPr>
            <a:xfrm rot="10800000">
              <a:off x="1408626" y="2638743"/>
              <a:ext cx="6160575" cy="2955597"/>
            </a:xfrm>
            <a:prstGeom prst="rtTriangl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kern="12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D3F4308-7152-BA53-7CFA-C1206DC71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231793"/>
              </p:ext>
            </p:extLst>
          </p:nvPr>
        </p:nvGraphicFramePr>
        <p:xfrm>
          <a:off x="6256817" y="2345601"/>
          <a:ext cx="5640008" cy="413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pic>
        <p:nvPicPr>
          <p:cNvPr id="26" name="Graphic 25" descr="Minimize with solid fill">
            <a:extLst>
              <a:ext uri="{FF2B5EF4-FFF2-40B4-BE49-F238E27FC236}">
                <a16:creationId xmlns:a16="http://schemas.microsoft.com/office/drawing/2014/main" id="{69EB6765-5821-3BD0-6FF0-4ABB7399BD7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97376" y="5498164"/>
            <a:ext cx="261664" cy="261664"/>
          </a:xfrm>
          <a:prstGeom prst="rect">
            <a:avLst/>
          </a:prstGeom>
        </p:spPr>
      </p:pic>
      <p:sp>
        <p:nvSpPr>
          <p:cNvPr id="203" name="Rectangle 202">
            <a:extLst>
              <a:ext uri="{FF2B5EF4-FFF2-40B4-BE49-F238E27FC236}">
                <a16:creationId xmlns:a16="http://schemas.microsoft.com/office/drawing/2014/main" id="{53072757-357A-F0CC-062B-D714CC556F2A}"/>
              </a:ext>
            </a:extLst>
          </p:cNvPr>
          <p:cNvSpPr/>
          <p:nvPr/>
        </p:nvSpPr>
        <p:spPr>
          <a:xfrm>
            <a:off x="1257300" y="5188622"/>
            <a:ext cx="4200071" cy="820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Marque a connu une </a:t>
            </a:r>
            <a:r>
              <a:rPr lang="fr-FR" sz="14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forte décroissance </a:t>
            </a:r>
            <a:r>
              <a:rPr lang="fr-FR" sz="1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sur la période (-10%), principalement due à une </a:t>
            </a:r>
            <a:r>
              <a:rPr lang="fr-FR" sz="14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chute des volumes en magasin </a:t>
            </a:r>
            <a:r>
              <a:rPr lang="fr-FR" sz="1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et de la </a:t>
            </a:r>
            <a:r>
              <a:rPr lang="fr-FR" sz="14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distribution</a:t>
            </a:r>
            <a:r>
              <a:rPr lang="fr-FR" sz="1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malgré une hausse de 5% sur ses prix de ventes.</a:t>
            </a:r>
          </a:p>
        </p:txBody>
      </p:sp>
    </p:spTree>
    <p:extLst>
      <p:ext uri="{BB962C8B-B14F-4D97-AF65-F5344CB8AC3E}">
        <p14:creationId xmlns:p14="http://schemas.microsoft.com/office/powerpoint/2010/main" val="308242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32765</TotalTime>
  <Words>147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1141</cp:revision>
  <dcterms:created xsi:type="dcterms:W3CDTF">2025-05-09T11:21:43Z</dcterms:created>
  <dcterms:modified xsi:type="dcterms:W3CDTF">2025-10-27T21:07:44Z</dcterms:modified>
</cp:coreProperties>
</file>