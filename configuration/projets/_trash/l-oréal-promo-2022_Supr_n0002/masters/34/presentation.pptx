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42" r:id="rId2"/>
    <p:sldId id="953" r:id="rId3"/>
    <p:sldId id="7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576CD4"/>
    <a:srgbClr val="303237"/>
    <a:srgbClr val="4FD1CE"/>
    <a:srgbClr val="D2F3F2"/>
    <a:srgbClr val="000000"/>
    <a:srgbClr val="E4E7F8"/>
    <a:srgbClr val="D9D9D9"/>
    <a:srgbClr val="E77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40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432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entreprise\mast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entreprise\maste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entreprise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entreprise\mas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entreprise\master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entreprise\mast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spPr>
            <a:solidFill>
              <a:schemeClr val="bg1"/>
            </a:solidFill>
          </c:spPr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3D-49DC-AC5D-DF5845DD9306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317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E3D-49DC-AC5D-DF5845DD9306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DE3D-49DC-AC5D-DF5845DD9306}"/>
              </c:ext>
            </c:extLst>
          </c:dPt>
          <c:val>
            <c:numRef>
              <c:f>Analyse!$AA$4:$AB$4</c:f>
              <c:numCache>
                <c:formatCode>0.0%</c:formatCode>
                <c:ptCount val="2"/>
                <c:pt idx="0">
                  <c:v>3.5752351901609011E-2</c:v>
                </c:pt>
                <c:pt idx="1">
                  <c:v>0.96424764809839103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3D-49DC-AC5D-DF5845DD9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solidFill>
                  <a:schemeClr val="accent4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81-41E6-8DB9-6F3A7B5CDB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E981-41E6-8DB9-6F3A7B5CDB58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5-E981-41E6-8DB9-6F3A7B5CDB58}"/>
              </c:ext>
            </c:extLst>
          </c:dPt>
          <c:val>
            <c:numRef>
              <c:f>Analyse!$AA$5:$AB$5</c:f>
              <c:numCache>
                <c:formatCode>0.0%</c:formatCode>
                <c:ptCount val="2"/>
                <c:pt idx="0">
                  <c:v>2.5625713264771591E-2</c:v>
                </c:pt>
                <c:pt idx="1">
                  <c:v>0.97437428673522841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1-41E6-8DB9-6F3A7B5CD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949114069499811E-2"/>
          <c:y val="4.6843832020997365E-2"/>
          <c:w val="0.92969162498722302"/>
          <c:h val="0.902230242053076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Analyse!$AH$3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90000"/>
                  <a:lumOff val="10000"/>
                </a:schemeClr>
              </a:solidFill>
              <a:ln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7F2-4893-AB51-1B68DD583B4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solidFill>
                  <a:schemeClr val="tx1">
                    <a:lumMod val="25000"/>
                    <a:lumOff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7F2-4893-AB51-1B68DD583B46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7F2-4893-AB51-1B68DD583B4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7F2-4893-AB51-1B68DD583B4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7F2-4893-AB51-1B68DD583B4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7F2-4893-AB51-1B68DD583B4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F2-4893-AB51-1B68DD583B4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Analyse!$AH$4:$AH$10</c:f>
              <c:numCache>
                <c:formatCode>General</c:formatCode>
                <c:ptCount val="7"/>
                <c:pt idx="0" formatCode="0%">
                  <c:v>1</c:v>
                </c:pt>
                <c:pt idx="2" formatCode="0%">
                  <c:v>0.40194117179649302</c:v>
                </c:pt>
                <c:pt idx="4" formatCode="0%">
                  <c:v>3.5752351901609011E-2</c:v>
                </c:pt>
                <c:pt idx="6" formatCode="0%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2-4893-AB51-1B68DD583B46}"/>
            </c:ext>
          </c:extLst>
        </c:ser>
        <c:ser>
          <c:idx val="1"/>
          <c:order val="1"/>
          <c:tx>
            <c:strRef>
              <c:f>Analyse!$AI$3</c:f>
              <c:strCache>
                <c:ptCount val="1"/>
                <c:pt idx="0">
                  <c:v>Blank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Analyse!$AI$4:$AI$10</c:f>
              <c:numCache>
                <c:formatCode>0%</c:formatCode>
                <c:ptCount val="7"/>
                <c:pt idx="1">
                  <c:v>0.40194117179649302</c:v>
                </c:pt>
                <c:pt idx="3">
                  <c:v>3.5752351901609011E-2</c:v>
                </c:pt>
                <c:pt idx="5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2-4893-AB51-1B68DD583B46}"/>
            </c:ext>
          </c:extLst>
        </c:ser>
        <c:ser>
          <c:idx val="2"/>
          <c:order val="2"/>
          <c:tx>
            <c:strRef>
              <c:f>Analyse!$AJ$3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Analyse!$AJ$4:$AJ$10</c:f>
              <c:numCache>
                <c:formatCode>General</c:formatCode>
                <c:ptCount val="7"/>
                <c:pt idx="1">
                  <c:v>0</c:v>
                </c:pt>
                <c:pt idx="3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F2-4893-AB51-1B68DD583B46}"/>
            </c:ext>
          </c:extLst>
        </c:ser>
        <c:ser>
          <c:idx val="3"/>
          <c:order val="3"/>
          <c:tx>
            <c:strRef>
              <c:f>Analyse!$AK$3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c:spPr>
          <c:invertIfNegative val="0"/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F2-4893-AB51-1B68DD583B4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F2-4893-AB51-1B68DD583B4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Analyse!$AK$4:$AK$10</c:f>
              <c:numCache>
                <c:formatCode>\-0%</c:formatCode>
                <c:ptCount val="7"/>
                <c:pt idx="1">
                  <c:v>0.59805882820350698</c:v>
                </c:pt>
                <c:pt idx="3">
                  <c:v>0.366188819894884</c:v>
                </c:pt>
                <c:pt idx="5">
                  <c:v>1.0126638636837416E-2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F2-4893-AB51-1B68DD583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34053472"/>
        <c:axId val="2034051072"/>
      </c:barChart>
      <c:catAx>
        <c:axId val="203405347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2034051072"/>
        <c:crosses val="autoZero"/>
        <c:auto val="1"/>
        <c:lblAlgn val="ctr"/>
        <c:lblOffset val="100"/>
        <c:noMultiLvlLbl val="0"/>
      </c:catAx>
      <c:valAx>
        <c:axId val="203405107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20340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fr-FR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6643804568866889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1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</c:marker>
          <c:dLbls>
            <c:numFmt formatCode="#\ ##0&quot;M€&quot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Analyse!$C$7:$C$150</c:f>
              <c:numCache>
                <c:formatCode>#\ ##0.0\ \ "M€"</c:formatCode>
                <c:ptCount val="144"/>
                <c:pt idx="0">
                  <c:v>29505584</c:v>
                </c:pt>
                <c:pt idx="1">
                  <c:v>23967141</c:v>
                </c:pt>
                <c:pt idx="2">
                  <c:v>22403234</c:v>
                </c:pt>
                <c:pt idx="3">
                  <c:v>21751691</c:v>
                </c:pt>
                <c:pt idx="4">
                  <c:v>23102388</c:v>
                </c:pt>
                <c:pt idx="5">
                  <c:v>22721100</c:v>
                </c:pt>
                <c:pt idx="6">
                  <c:v>22367555</c:v>
                </c:pt>
                <c:pt idx="7">
                  <c:v>33007622</c:v>
                </c:pt>
                <c:pt idx="8">
                  <c:v>33917775</c:v>
                </c:pt>
                <c:pt idx="9">
                  <c:v>42788449</c:v>
                </c:pt>
                <c:pt idx="10">
                  <c:v>46815658</c:v>
                </c:pt>
                <c:pt idx="11">
                  <c:v>43139126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7B3DB75-5180-47B4-9DB8-4B2C08F18A1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5DC47C0F-602C-4785-927C-E20961EB607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F44DE2E7-9A00-4118-8E07-EEF538F2748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6A5000E6-B5E0-4594-B775-2120C04D554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AE951446-9603-4FB5-BDDF-9813ACBAFC50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Analyse!$H$7:$H$150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#N/A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30AE-48C2-B1D8-B9340032688F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9DF7FAC-9BBB-480F-80C0-A50BC72FFBD9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AAFD1E7-4D4C-4393-999A-AA38A85722D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0C0BC5D-5DDA-4CA1-B17E-3130D2F8D6B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A662A547-5EC2-4B19-92A1-66E17ACF802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9861E3F-2DC1-45F1-8EAD-58256268562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DA955E0B-E54D-4A79-8B46-8BE239CBDEF1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Analyse!$I$7:$I$150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1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71033476323324218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numFmt formatCode="#\ ##0&quot;M€&quot;;\-#\ ##0&quot;M€&quot;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Analyse!$N$7:$N$150</c:f>
              <c:numCache>
                <c:formatCode>#\ ##0.0\ \ "M€"</c:formatCode>
                <c:ptCount val="144"/>
                <c:pt idx="0">
                  <c:v>3044779</c:v>
                </c:pt>
                <c:pt idx="1">
                  <c:v>460626</c:v>
                </c:pt>
                <c:pt idx="2">
                  <c:v>700135</c:v>
                </c:pt>
                <c:pt idx="3">
                  <c:v>451547</c:v>
                </c:pt>
                <c:pt idx="4">
                  <c:v>554692</c:v>
                </c:pt>
                <c:pt idx="5">
                  <c:v>481093</c:v>
                </c:pt>
                <c:pt idx="6">
                  <c:v>588761</c:v>
                </c:pt>
                <c:pt idx="7">
                  <c:v>11030048</c:v>
                </c:pt>
                <c:pt idx="8">
                  <c:v>11047703</c:v>
                </c:pt>
                <c:pt idx="9">
                  <c:v>12676207</c:v>
                </c:pt>
                <c:pt idx="10">
                  <c:v>17092825</c:v>
                </c:pt>
                <c:pt idx="11">
                  <c:v>17041770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76C363B-5EC9-4309-AEEE-AAB9CF9BBE3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3E01092-3578-4FC9-8C75-6E8B774FDC47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106163C3-62E1-4D02-8F84-BF9B1525A47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7259539D-8D57-466F-AD61-AB0CE37B935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9B5BDE56-D7B5-4083-BD16-EFE06A9F0CE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80E8C04-CB9E-428E-89E0-DB24CCCA27C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E7B33DB5-1E4D-4D4F-94F6-2D36AE57670E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Analyse!$S$7:$S$150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1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2CE8-43F5-8DA1-2006C6E9F7D8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A84EA3B-8CEC-48AB-9506-0BF827573897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1471287-4785-4697-A62C-79C054011639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97D3B80-5A59-431E-A999-6DFCF62F271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03E5008-D4FE-4D99-B9FF-773F3A09BA9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Analyse!$T$7:$T$150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#N/A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</c:plotArea>
    <c:plotVisOnly val="1"/>
    <c:dispBlanksAs val="gap"/>
    <c:showDLblsOverMax val="0"/>
  </c:chart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Analyse!$W$6</c:f>
              <c:strCache>
                <c:ptCount val="1"/>
                <c:pt idx="0">
                  <c:v>Taux de marge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Analyse!$M$7:$M$150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Analyse!$W$7:$W$150</c:f>
              <c:numCache>
                <c:formatCode>0%</c:formatCode>
                <c:ptCount val="144"/>
                <c:pt idx="0">
                  <c:v>0.10319331418757886</c:v>
                </c:pt>
                <c:pt idx="1">
                  <c:v>1.9219063300040667E-2</c:v>
                </c:pt>
                <c:pt idx="2">
                  <c:v>3.1251514848258069E-2</c:v>
                </c:pt>
                <c:pt idx="3">
                  <c:v>2.0759167643563895E-2</c:v>
                </c:pt>
                <c:pt idx="4">
                  <c:v>2.4010158603517524E-2</c:v>
                </c:pt>
                <c:pt idx="5">
                  <c:v>2.1173842815708745E-2</c:v>
                </c:pt>
                <c:pt idx="6">
                  <c:v>2.6322099129743953E-2</c:v>
                </c:pt>
                <c:pt idx="7">
                  <c:v>0.33416669640727226</c:v>
                </c:pt>
                <c:pt idx="8">
                  <c:v>0.32572015705629276</c:v>
                </c:pt>
                <c:pt idx="9">
                  <c:v>0.29625301445256874</c:v>
                </c:pt>
                <c:pt idx="10">
                  <c:v>0.36510914788381271</c:v>
                </c:pt>
                <c:pt idx="11">
                  <c:v>0.39504207850664386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4-4A83-BE21-177566B72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121538784"/>
        <c:axId val="2121540224"/>
      </c:barChart>
      <c:dateAx>
        <c:axId val="2121538784"/>
        <c:scaling>
          <c:orientation val="minMax"/>
        </c:scaling>
        <c:delete val="0"/>
        <c:axPos val="b"/>
        <c:numFmt formatCode="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40224"/>
        <c:crosses val="autoZero"/>
        <c:auto val="1"/>
        <c:lblOffset val="100"/>
        <c:baseTimeUnit val="years"/>
      </c:dateAx>
      <c:valAx>
        <c:axId val="21215402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dash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3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90000"/>
              <a:lumOff val="10000"/>
            </a:schemeClr>
          </a:solidFill>
          <a:latin typeface="Aptos Display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80C3-F197-0084-7F73-EEABE6E6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98A89-606D-0543-761F-5F60DFFE7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4B61-C38D-1FF9-561A-7EFA52B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5F61-6DE0-5338-34BB-72DD1DFDB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56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2.xml"/><Relationship Id="rId18" Type="http://schemas.openxmlformats.org/officeDocument/2006/relationships/chart" Target="../charts/chart5.xml"/><Relationship Id="rId3" Type="http://schemas.openxmlformats.org/officeDocument/2006/relationships/tags" Target="../tags/tag3.xml"/><Relationship Id="rId7" Type="http://schemas.openxmlformats.org/officeDocument/2006/relationships/image" Target="../media/image3.emf"/><Relationship Id="rId12" Type="http://schemas.openxmlformats.org/officeDocument/2006/relationships/chart" Target="../charts/chart1.xml"/><Relationship Id="rId17" Type="http://schemas.openxmlformats.org/officeDocument/2006/relationships/chart" Target="../charts/chart4.xml"/><Relationship Id="rId2" Type="http://schemas.openxmlformats.org/officeDocument/2006/relationships/tags" Target="../tags/tag2.xml"/><Relationship Id="rId16" Type="http://schemas.openxmlformats.org/officeDocument/2006/relationships/image" Target="../media/image9.svg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19" Type="http://schemas.openxmlformats.org/officeDocument/2006/relationships/chart" Target="../charts/chart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svg"/><Relationship Id="rId1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[Distributeur] -  Etude du [Date]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62B3FB-99D5-1C13-8861-C58B61311075}"/>
              </a:ext>
            </a:extLst>
          </p:cNvPr>
          <p:cNvCxnSpPr>
            <a:cxnSpLocks/>
          </p:cNvCxnSpPr>
          <p:nvPr/>
        </p:nvCxnSpPr>
        <p:spPr>
          <a:xfrm>
            <a:off x="2293586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70BCE6-7EC9-F8E8-83BB-045869AAD150}"/>
              </a:ext>
            </a:extLst>
          </p:cNvPr>
          <p:cNvCxnSpPr>
            <a:cxnSpLocks/>
          </p:cNvCxnSpPr>
          <p:nvPr/>
        </p:nvCxnSpPr>
        <p:spPr>
          <a:xfrm>
            <a:off x="7876238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square with white text and a white circle&#10;&#10;AI-generated content may be incorrect.">
            <a:extLst>
              <a:ext uri="{FF2B5EF4-FFF2-40B4-BE49-F238E27FC236}">
                <a16:creationId xmlns:a16="http://schemas.microsoft.com/office/drawing/2014/main" id="{C64784ED-5EA4-47A5-5153-062171C5A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20" y="2036008"/>
            <a:ext cx="732108" cy="732592"/>
          </a:xfrm>
          <a:prstGeom prst="round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D50538-C89C-6662-7EDE-C9BA8A360FEE}"/>
              </a:ext>
            </a:extLst>
          </p:cNvPr>
          <p:cNvSpPr/>
          <p:nvPr/>
        </p:nvSpPr>
        <p:spPr>
          <a:xfrm>
            <a:off x="5525950" y="194510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</a:t>
            </a:r>
            <a:endParaRPr lang="en-US" sz="2400" b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40804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L’information au service de l’action 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5292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Fiche d’identité des concurrents</a:t>
            </a:r>
          </a:p>
        </p:txBody>
      </p: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D957-0927-2C46-F483-DFECD164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9847ED-AC01-698C-B58F-67DB0363DC15}"/>
              </a:ext>
            </a:extLst>
          </p:cNvPr>
          <p:cNvSpPr/>
          <p:nvPr/>
        </p:nvSpPr>
        <p:spPr>
          <a:xfrm>
            <a:off x="0" y="1"/>
            <a:ext cx="12192000" cy="2744156"/>
          </a:xfrm>
          <a:prstGeom prst="rect">
            <a:avLst/>
          </a:prstGeom>
          <a:solidFill>
            <a:srgbClr val="30323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185F17A-BA52-EF97-365B-513F5238E3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4" progId="TCLayout.ActiveDocument.1">
                  <p:embed/>
                </p:oleObj>
              </mc:Choice>
              <mc:Fallback>
                <p:oleObj name="think-cell Slide" r:id="rId6" imgW="473" imgH="47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85F17A-BA52-EF97-365B-513F5238E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319ABF7-0D59-10D2-3156-1494F88C8EC2}"/>
              </a:ext>
            </a:extLst>
          </p:cNvPr>
          <p:cNvSpPr/>
          <p:nvPr/>
        </p:nvSpPr>
        <p:spPr>
          <a:xfrm>
            <a:off x="532933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 (CA)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F6B92-806D-B899-6E21-9CABA74B43E5}"/>
              </a:ext>
            </a:extLst>
          </p:cNvPr>
          <p:cNvSpPr/>
          <p:nvPr/>
        </p:nvSpPr>
        <p:spPr>
          <a:xfrm>
            <a:off x="532932" y="611296"/>
            <a:ext cx="238716" cy="2269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A1F96-6403-3CFA-4CF5-94F705987FD2}"/>
              </a:ext>
            </a:extLst>
          </p:cNvPr>
          <p:cNvSpPr txBox="1"/>
          <p:nvPr/>
        </p:nvSpPr>
        <p:spPr>
          <a:xfrm>
            <a:off x="917078" y="246278"/>
            <a:ext cx="5235405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[</a:t>
            </a:r>
            <a:r>
              <a:rPr lang="fr-FR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Code_Postal</a:t>
            </a:r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]</a:t>
            </a:r>
            <a:endParaRPr lang="fr-FR" sz="1600" noProof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E990-CF48-4D57-26BB-9C9E56700176}"/>
              </a:ext>
            </a:extLst>
          </p:cNvPr>
          <p:cNvSpPr txBox="1"/>
          <p:nvPr/>
        </p:nvSpPr>
        <p:spPr>
          <a:xfrm>
            <a:off x="917078" y="492774"/>
            <a:ext cx="4125325" cy="463846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[Entreprise]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87C0EE5-16E0-110A-F7C2-38A298B0847E}"/>
              </a:ext>
            </a:extLst>
          </p:cNvPr>
          <p:cNvSpPr/>
          <p:nvPr/>
        </p:nvSpPr>
        <p:spPr>
          <a:xfrm>
            <a:off x="532931" y="6405694"/>
            <a:ext cx="11234575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Source : SAMMPO | INSEE : Ratios Financiers (BCE / INPI) - Etude du [Date] | A001 [Incohérence]</a:t>
            </a:r>
            <a:endParaRPr lang="en-US" sz="1100" dirty="0">
              <a:solidFill>
                <a:schemeClr val="accent3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B5F888-FCE6-B14B-8EDC-8323D47F2F95}"/>
              </a:ext>
            </a:extLst>
          </p:cNvPr>
          <p:cNvSpPr/>
          <p:nvPr/>
        </p:nvSpPr>
        <p:spPr>
          <a:xfrm>
            <a:off x="9101795" y="-86497"/>
            <a:ext cx="2841612" cy="6580430"/>
          </a:xfrm>
          <a:prstGeom prst="rect">
            <a:avLst/>
          </a:prstGeom>
          <a:solidFill>
            <a:srgbClr val="FFFFFF">
              <a:alpha val="89804"/>
            </a:srgbClr>
          </a:solidFill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B9C9C-2742-4416-D1AB-18DA7C7846B8}"/>
              </a:ext>
            </a:extLst>
          </p:cNvPr>
          <p:cNvSpPr/>
          <p:nvPr/>
        </p:nvSpPr>
        <p:spPr>
          <a:xfrm>
            <a:off x="4806967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Excédent brut d’exploitation (EBE)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BA152D-D707-BF6B-D9A4-B14164E08D45}"/>
              </a:ext>
            </a:extLst>
          </p:cNvPr>
          <p:cNvGrpSpPr/>
          <p:nvPr/>
        </p:nvGrpSpPr>
        <p:grpSpPr>
          <a:xfrm>
            <a:off x="3423588" y="2961390"/>
            <a:ext cx="1231151" cy="449917"/>
            <a:chOff x="3086149" y="5633623"/>
            <a:chExt cx="1231151" cy="449917"/>
          </a:xfrm>
          <a:solidFill>
            <a:schemeClr val="tx1">
              <a:lumMod val="90000"/>
              <a:lumOff val="10000"/>
            </a:schemeClr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8BCEADD-0CE3-11B1-59A9-EA8BF4BEC5CA}"/>
                </a:ext>
              </a:extLst>
            </p:cNvPr>
            <p:cNvSpPr/>
            <p:nvPr/>
          </p:nvSpPr>
          <p:spPr>
            <a:xfrm>
              <a:off x="3086149" y="5633623"/>
              <a:ext cx="1231151" cy="44991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  <a:ln w="9525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 defTabSz="914400" rtl="0" eaLnBrk="1" latinLnBrk="0" hangingPunct="1"/>
              <a:endParaRPr lang="fr-FR" sz="16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D0EA87F-6585-BBEA-9A00-8EFB54C63A42}"/>
                </a:ext>
              </a:extLst>
            </p:cNvPr>
            <p:cNvGrpSpPr/>
            <p:nvPr/>
          </p:nvGrpSpPr>
          <p:grpSpPr>
            <a:xfrm>
              <a:off x="3427597" y="5705324"/>
              <a:ext cx="842076" cy="325566"/>
              <a:chOff x="3220759" y="5706493"/>
              <a:chExt cx="1010426" cy="325566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F176E6-5291-F9B7-C211-CBE63AB2D3FE}"/>
                  </a:ext>
                </a:extLst>
              </p:cNvPr>
              <p:cNvSpPr/>
              <p:nvPr/>
            </p:nvSpPr>
            <p:spPr>
              <a:xfrm>
                <a:off x="3220759" y="5896686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b"/>
              <a:lstStyle/>
              <a:p>
                <a:pPr algn="l"/>
                <a:r>
                  <a:rPr lang="fr-FR" sz="1000" i="1" noProof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 vs [Start]</a:t>
                </a:r>
                <a:endParaRPr lang="fr-FR" sz="500" i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F54539D-F68C-5C84-B938-3BB85925339B}"/>
                  </a:ext>
                </a:extLst>
              </p:cNvPr>
              <p:cNvSpPr/>
              <p:nvPr/>
            </p:nvSpPr>
            <p:spPr>
              <a:xfrm>
                <a:off x="3220759" y="5706493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</a:t>
                </a:r>
                <a:r>
                  <a:rPr lang="fr-FR" sz="1200" b="1" dirty="0" err="1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Cagr_CA</a:t>
                </a:r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]</a:t>
                </a:r>
                <a:endParaRPr lang="fr-FR" sz="800" b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pic>
          <p:nvPicPr>
            <p:cNvPr id="40" name="Graphic 39" descr="Sprouting Seed with solid fill">
              <a:extLst>
                <a:ext uri="{FF2B5EF4-FFF2-40B4-BE49-F238E27FC236}">
                  <a16:creationId xmlns:a16="http://schemas.microsoft.com/office/drawing/2014/main" id="{8355AC32-42E9-2190-227A-4BDD541CD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40433" y="5727842"/>
              <a:ext cx="246238" cy="24623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2B4EB3-4CAA-AC5D-8137-720C7870A50D}"/>
              </a:ext>
            </a:extLst>
          </p:cNvPr>
          <p:cNvGrpSpPr/>
          <p:nvPr/>
        </p:nvGrpSpPr>
        <p:grpSpPr>
          <a:xfrm>
            <a:off x="7718415" y="2961390"/>
            <a:ext cx="1231151" cy="449917"/>
            <a:chOff x="7537262" y="5633623"/>
            <a:chExt cx="1231151" cy="449917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5B5D9A-0734-B6A3-86D2-05473844E731}"/>
                </a:ext>
              </a:extLst>
            </p:cNvPr>
            <p:cNvGrpSpPr/>
            <p:nvPr/>
          </p:nvGrpSpPr>
          <p:grpSpPr>
            <a:xfrm>
              <a:off x="7537262" y="5633623"/>
              <a:ext cx="1231151" cy="449917"/>
              <a:chOff x="3086149" y="5633623"/>
              <a:chExt cx="1231151" cy="449917"/>
            </a:xfrm>
            <a:grpFill/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2A90B03-35E3-16C4-2338-6E2BEC345890}"/>
                  </a:ext>
                </a:extLst>
              </p:cNvPr>
              <p:cNvSpPr/>
              <p:nvPr/>
            </p:nvSpPr>
            <p:spPr>
              <a:xfrm>
                <a:off x="3086149" y="5633623"/>
                <a:ext cx="1231151" cy="449917"/>
              </a:xfrm>
              <a:prstGeom prst="round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ctr" defTabSz="914400" rtl="0" eaLnBrk="1" latinLnBrk="0" hangingPunct="1"/>
                <a:endParaRPr lang="fr-FR" sz="1600" b="1" kern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5A1A187-0E6F-67B7-EB10-AB4C3A9B78E0}"/>
                  </a:ext>
                </a:extLst>
              </p:cNvPr>
              <p:cNvGrpSpPr/>
              <p:nvPr/>
            </p:nvGrpSpPr>
            <p:grpSpPr>
              <a:xfrm>
                <a:off x="3427597" y="5705324"/>
                <a:ext cx="842076" cy="325566"/>
                <a:chOff x="3220759" y="5706493"/>
                <a:chExt cx="1010426" cy="325566"/>
              </a:xfrm>
              <a:grpFill/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C265317-F35C-FF82-24D3-3F3355A61522}"/>
                    </a:ext>
                  </a:extLst>
                </p:cNvPr>
                <p:cNvSpPr/>
                <p:nvPr/>
              </p:nvSpPr>
              <p:spPr>
                <a:xfrm>
                  <a:off x="3220759" y="5896686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b"/>
                <a:lstStyle/>
                <a:p>
                  <a:pPr algn="l"/>
                  <a:r>
                    <a:rPr lang="fr-FR" sz="1000" i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CAGR vs [Start]</a:t>
                  </a:r>
                  <a:endParaRPr lang="fr-FR" sz="500" i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E0C4E9E-14C5-B6CF-ECFE-8C2F5678B91D}"/>
                    </a:ext>
                  </a:extLst>
                </p:cNvPr>
                <p:cNvSpPr/>
                <p:nvPr/>
              </p:nvSpPr>
              <p:spPr>
                <a:xfrm>
                  <a:off x="3220759" y="5706493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l"/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[</a:t>
                  </a:r>
                  <a:r>
                    <a:rPr lang="fr-FR" sz="1200" b="1" noProof="0" dirty="0" err="1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</a:t>
                  </a:r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_EBE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]</a:t>
                  </a:r>
                  <a:endParaRPr lang="fr-FR" sz="800" b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</p:grpSp>
        <p:pic>
          <p:nvPicPr>
            <p:cNvPr id="38" name="Graphic 37" descr="Money with solid fill">
              <a:extLst>
                <a:ext uri="{FF2B5EF4-FFF2-40B4-BE49-F238E27FC236}">
                  <a16:creationId xmlns:a16="http://schemas.microsoft.com/office/drawing/2014/main" id="{CE5E99FA-DC72-C7DE-543D-CCB85F7F1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98634" y="5735979"/>
              <a:ext cx="245204" cy="245204"/>
            </a:xfrm>
            <a:prstGeom prst="rect">
              <a:avLst/>
            </a:prstGeom>
          </p:spPr>
        </p:pic>
      </p:grp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07F9D9C-76D3-4DDE-F0B9-7678A652991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881873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[EBE]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DA093-F1AB-27E8-9A86-7AF62403D444}"/>
              </a:ext>
            </a:extLst>
          </p:cNvPr>
          <p:cNvSpPr/>
          <p:nvPr/>
        </p:nvSpPr>
        <p:spPr>
          <a:xfrm>
            <a:off x="5229014" y="1629953"/>
            <a:ext cx="1754088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noProof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 en </a:t>
            </a:r>
            <a:r>
              <a:rPr lang="fr-FR" sz="12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[End]</a:t>
            </a:r>
          </a:p>
          <a:p>
            <a:pPr algn="ctr"/>
            <a:r>
              <a:rPr lang="fr-FR" sz="9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EBE/CA</a:t>
            </a: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EC69C6BA-014D-6AC1-9308-90DDB0C73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816215"/>
              </p:ext>
            </p:extLst>
          </p:nvPr>
        </p:nvGraphicFramePr>
        <p:xfrm>
          <a:off x="5584058" y="521970"/>
          <a:ext cx="1044000" cy="1051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9850D9B3-792A-A14A-0459-C627CA275A0F}"/>
              </a:ext>
            </a:extLst>
          </p:cNvPr>
          <p:cNvSpPr/>
          <p:nvPr/>
        </p:nvSpPr>
        <p:spPr>
          <a:xfrm>
            <a:off x="6946474" y="1629953"/>
            <a:ext cx="1918419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  en [End]</a:t>
            </a:r>
          </a:p>
          <a:p>
            <a:pPr algn="ctr"/>
            <a:r>
              <a:rPr lang="fr-FR" sz="9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RN/CA</a:t>
            </a: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6427DC35-21A6-C69D-EDF8-98CD0D3A04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153400"/>
              </p:ext>
            </p:extLst>
          </p:nvPr>
        </p:nvGraphicFramePr>
        <p:xfrm>
          <a:off x="7383683" y="521970"/>
          <a:ext cx="1044000" cy="1060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F870C9BC-BA30-6BC6-01BB-F62CCD7D3340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681498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</a:t>
            </a:r>
            <a:r>
              <a:rPr lang="fr-FR" sz="1800" b="1" dirty="0" err="1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RN_p</a:t>
            </a: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2A220FCE-B200-D671-8797-E77ABBCBB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571609"/>
              </p:ext>
            </p:extLst>
          </p:nvPr>
        </p:nvGraphicFramePr>
        <p:xfrm>
          <a:off x="10462051" y="334878"/>
          <a:ext cx="1378066" cy="3086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6D8FBE79-83B6-E4D1-9F45-1FF9A6E86371}"/>
              </a:ext>
            </a:extLst>
          </p:cNvPr>
          <p:cNvSpPr/>
          <p:nvPr/>
        </p:nvSpPr>
        <p:spPr>
          <a:xfrm>
            <a:off x="9266895" y="55705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A94E2-713D-B133-45EA-0392B3778173}"/>
              </a:ext>
            </a:extLst>
          </p:cNvPr>
          <p:cNvSpPr/>
          <p:nvPr/>
        </p:nvSpPr>
        <p:spPr>
          <a:xfrm>
            <a:off x="9266895" y="95163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Marchandises et matières 1</a:t>
            </a:r>
            <a:r>
              <a:rPr lang="fr-FR" sz="1100" baseline="300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D0294E-B7C6-7C78-FE35-3F66CEBEE884}"/>
              </a:ext>
            </a:extLst>
          </p:cNvPr>
          <p:cNvSpPr/>
          <p:nvPr/>
        </p:nvSpPr>
        <p:spPr>
          <a:xfrm>
            <a:off x="9266895" y="1346208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Marge brute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7D7158-02CC-5A29-E3FE-E8A23CE34896}"/>
              </a:ext>
            </a:extLst>
          </p:cNvPr>
          <p:cNvSpPr/>
          <p:nvPr/>
        </p:nvSpPr>
        <p:spPr>
          <a:xfrm>
            <a:off x="9266895" y="1740786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Coût de prod. </a:t>
            </a:r>
            <a:r>
              <a:rPr lang="fr-FR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(salaires, externe…)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F5DFF2C-AE93-FD64-122A-026CF487E5B7}"/>
              </a:ext>
            </a:extLst>
          </p:cNvPr>
          <p:cNvSpPr/>
          <p:nvPr/>
        </p:nvSpPr>
        <p:spPr>
          <a:xfrm>
            <a:off x="9266895" y="213536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</a:t>
            </a:r>
            <a:endParaRPr lang="fr-FR" sz="900" b="1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EEC7C5E-CD7D-33F7-832F-087AF234DE86}"/>
              </a:ext>
            </a:extLst>
          </p:cNvPr>
          <p:cNvSpPr/>
          <p:nvPr/>
        </p:nvSpPr>
        <p:spPr>
          <a:xfrm>
            <a:off x="9266895" y="252994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Charges et profits exceptionnels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84B05E2-9AE8-DE8A-B25D-50FAAFCD5BDE}"/>
              </a:ext>
            </a:extLst>
          </p:cNvPr>
          <p:cNvSpPr/>
          <p:nvPr/>
        </p:nvSpPr>
        <p:spPr>
          <a:xfrm>
            <a:off x="9266895" y="2924517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accent4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</a:t>
            </a:r>
            <a:endParaRPr lang="fr-FR" sz="900" b="1" dirty="0">
              <a:solidFill>
                <a:schemeClr val="accent4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820247A-7CA2-1FFA-3899-4279BB1B5BF5}"/>
              </a:ext>
            </a:extLst>
          </p:cNvPr>
          <p:cNvGrpSpPr/>
          <p:nvPr/>
        </p:nvGrpSpPr>
        <p:grpSpPr>
          <a:xfrm>
            <a:off x="9266895" y="474237"/>
            <a:ext cx="2573222" cy="2782545"/>
            <a:chOff x="9266895" y="521970"/>
            <a:chExt cx="2573222" cy="2727718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415F7CC-C9C1-AC20-46E3-2EABB94943E1}"/>
                </a:ext>
              </a:extLst>
            </p:cNvPr>
            <p:cNvCxnSpPr/>
            <p:nvPr/>
          </p:nvCxnSpPr>
          <p:spPr>
            <a:xfrm flipH="1">
              <a:off x="9266895" y="91164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D0A515C-6C26-E0DA-1F98-119CCBAF958A}"/>
                </a:ext>
              </a:extLst>
            </p:cNvPr>
            <p:cNvCxnSpPr/>
            <p:nvPr/>
          </p:nvCxnSpPr>
          <p:spPr>
            <a:xfrm flipH="1">
              <a:off x="9266895" y="521970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D07267D-BEE6-98A2-B643-0380D96AFEBD}"/>
                </a:ext>
              </a:extLst>
            </p:cNvPr>
            <p:cNvCxnSpPr/>
            <p:nvPr/>
          </p:nvCxnSpPr>
          <p:spPr>
            <a:xfrm flipH="1">
              <a:off x="9266895" y="130131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9C86CFB-CDEA-5579-932C-C9BF8154D12A}"/>
                </a:ext>
              </a:extLst>
            </p:cNvPr>
            <p:cNvCxnSpPr/>
            <p:nvPr/>
          </p:nvCxnSpPr>
          <p:spPr>
            <a:xfrm flipH="1">
              <a:off x="9266895" y="1690992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47FDC16-2879-5435-F5B0-7D253AB9BDA7}"/>
                </a:ext>
              </a:extLst>
            </p:cNvPr>
            <p:cNvCxnSpPr/>
            <p:nvPr/>
          </p:nvCxnSpPr>
          <p:spPr>
            <a:xfrm flipH="1">
              <a:off x="9266895" y="2080666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27F662-E5CC-EB3C-7BC4-3B16E9817B79}"/>
                </a:ext>
              </a:extLst>
            </p:cNvPr>
            <p:cNvCxnSpPr/>
            <p:nvPr/>
          </p:nvCxnSpPr>
          <p:spPr>
            <a:xfrm flipH="1">
              <a:off x="9266895" y="2470340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89AF8BD-E16A-9B67-4933-21B4C80045CD}"/>
                </a:ext>
              </a:extLst>
            </p:cNvPr>
            <p:cNvCxnSpPr/>
            <p:nvPr/>
          </p:nvCxnSpPr>
          <p:spPr>
            <a:xfrm flipH="1">
              <a:off x="9266895" y="286001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DB114CA-7CF0-B921-4BBA-1F471CF4705F}"/>
                </a:ext>
              </a:extLst>
            </p:cNvPr>
            <p:cNvCxnSpPr/>
            <p:nvPr/>
          </p:nvCxnSpPr>
          <p:spPr>
            <a:xfrm flipH="1">
              <a:off x="9266895" y="324968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4A4C492-B94E-3846-4C1B-270D74004E86}"/>
              </a:ext>
            </a:extLst>
          </p:cNvPr>
          <p:cNvGrpSpPr/>
          <p:nvPr/>
        </p:nvGrpSpPr>
        <p:grpSpPr>
          <a:xfrm>
            <a:off x="9049994" y="3548382"/>
            <a:ext cx="1959124" cy="330951"/>
            <a:chOff x="9049994" y="3548382"/>
            <a:chExt cx="1959124" cy="330951"/>
          </a:xfrm>
        </p:grpSpPr>
        <p:sp>
          <p:nvSpPr>
            <p:cNvPr id="103" name="Right Triangle 102">
              <a:extLst>
                <a:ext uri="{FF2B5EF4-FFF2-40B4-BE49-F238E27FC236}">
                  <a16:creationId xmlns:a16="http://schemas.microsoft.com/office/drawing/2014/main" id="{2CE5D559-4D9F-2583-91B7-637F3081BD21}"/>
                </a:ext>
              </a:extLst>
            </p:cNvPr>
            <p:cNvSpPr/>
            <p:nvPr/>
          </p:nvSpPr>
          <p:spPr>
            <a:xfrm rot="10800000">
              <a:off x="9049994" y="3789390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536A213-3912-545E-6F5E-4C840995DF72}"/>
                </a:ext>
              </a:extLst>
            </p:cNvPr>
            <p:cNvSpPr/>
            <p:nvPr/>
          </p:nvSpPr>
          <p:spPr>
            <a:xfrm>
              <a:off x="9058276" y="3548382"/>
              <a:ext cx="1950842" cy="232786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Évolution de l’EBE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AB723B-22CD-B943-C272-A5DB9EC87FF0}"/>
              </a:ext>
            </a:extLst>
          </p:cNvPr>
          <p:cNvGrpSpPr/>
          <p:nvPr/>
        </p:nvGrpSpPr>
        <p:grpSpPr>
          <a:xfrm>
            <a:off x="9049994" y="135924"/>
            <a:ext cx="1959124" cy="332611"/>
            <a:chOff x="9049994" y="135924"/>
            <a:chExt cx="1959124" cy="332611"/>
          </a:xfrm>
        </p:grpSpPr>
        <p:sp>
          <p:nvSpPr>
            <p:cNvPr id="104" name="Right Triangle 103">
              <a:extLst>
                <a:ext uri="{FF2B5EF4-FFF2-40B4-BE49-F238E27FC236}">
                  <a16:creationId xmlns:a16="http://schemas.microsoft.com/office/drawing/2014/main" id="{F5C3BB20-8F8A-E58F-3C98-56182C773203}"/>
                </a:ext>
              </a:extLst>
            </p:cNvPr>
            <p:cNvSpPr/>
            <p:nvPr/>
          </p:nvSpPr>
          <p:spPr>
            <a:xfrm rot="10800000">
              <a:off x="9049994" y="378592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EF3366-C616-4BC1-6FF2-61673C885378}"/>
                </a:ext>
              </a:extLst>
            </p:cNvPr>
            <p:cNvSpPr/>
            <p:nvPr/>
          </p:nvSpPr>
          <p:spPr>
            <a:xfrm>
              <a:off x="9058276" y="135924"/>
              <a:ext cx="1950842" cy="234000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Structure de la marge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873F73-FDD7-BF4D-68B0-799C0A295F84}"/>
              </a:ext>
            </a:extLst>
          </p:cNvPr>
          <p:cNvGrpSpPr/>
          <p:nvPr/>
        </p:nvGrpSpPr>
        <p:grpSpPr>
          <a:xfrm>
            <a:off x="532932" y="1332136"/>
            <a:ext cx="4452242" cy="504841"/>
            <a:chOff x="917078" y="1027336"/>
            <a:chExt cx="4068095" cy="5048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3B97E0-AB1B-2C3F-74EB-96D1AC4278EB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Secteur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3333B-E92E-08A5-1A3A-CB5C48DEA851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[Famille]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A5E625-1DAC-041C-F0DA-8AD054C830AD}"/>
              </a:ext>
            </a:extLst>
          </p:cNvPr>
          <p:cNvGrpSpPr/>
          <p:nvPr/>
        </p:nvGrpSpPr>
        <p:grpSpPr>
          <a:xfrm>
            <a:off x="532932" y="2044136"/>
            <a:ext cx="4452242" cy="504841"/>
            <a:chOff x="917078" y="1027336"/>
            <a:chExt cx="4068095" cy="5048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005F94-244E-2410-50A3-41312F7F51A4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Métier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4E380A-9EAE-02E8-1E91-595D8FE9A853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[Segment]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0D8F2-35CA-84D1-5C3D-9EF3896BDC24}"/>
              </a:ext>
            </a:extLst>
          </p:cNvPr>
          <p:cNvSpPr/>
          <p:nvPr/>
        </p:nvSpPr>
        <p:spPr>
          <a:xfrm>
            <a:off x="5399968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DC7B4F-87F5-E30B-0755-235F588DC4F1}"/>
              </a:ext>
            </a:extLst>
          </p:cNvPr>
          <p:cNvGrpSpPr/>
          <p:nvPr/>
        </p:nvGrpSpPr>
        <p:grpSpPr>
          <a:xfrm>
            <a:off x="5842863" y="2152011"/>
            <a:ext cx="1019341" cy="358907"/>
            <a:chOff x="5730024" y="2152145"/>
            <a:chExt cx="937476" cy="3589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16C47-0FE1-60A5-BA58-4DC1284F5C95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D291A0-8548-79C1-2E0F-09A2363273A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[CA]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13" name="Graphic 12" descr="Sprouting Seed with solid fill">
            <a:extLst>
              <a:ext uri="{FF2B5EF4-FFF2-40B4-BE49-F238E27FC236}">
                <a16:creationId xmlns:a16="http://schemas.microsoft.com/office/drawing/2014/main" id="{C2CB4662-A5CB-9F1D-0180-49320D3F09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70347" y="2134862"/>
            <a:ext cx="317004" cy="3170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705DFA-7A01-B84A-4575-47703EAFCC33}"/>
              </a:ext>
            </a:extLst>
          </p:cNvPr>
          <p:cNvSpPr/>
          <p:nvPr/>
        </p:nvSpPr>
        <p:spPr>
          <a:xfrm>
            <a:off x="7155434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A08CD6-2ADC-0E7B-4460-81027AA4DE3D}"/>
              </a:ext>
            </a:extLst>
          </p:cNvPr>
          <p:cNvGrpSpPr/>
          <p:nvPr/>
        </p:nvGrpSpPr>
        <p:grpSpPr>
          <a:xfrm>
            <a:off x="7598329" y="2152011"/>
            <a:ext cx="1019341" cy="358907"/>
            <a:chOff x="5730024" y="2152145"/>
            <a:chExt cx="937476" cy="35890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62F587-7097-C421-A94D-FA3FC3D59944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Résultat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13766ED-965F-0584-C89D-AEFDE9B4120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[RN]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E966595-C73A-E42F-5214-EDAFF36FE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470293"/>
              </p:ext>
            </p:extLst>
          </p:nvPr>
        </p:nvGraphicFramePr>
        <p:xfrm>
          <a:off x="398073" y="3416481"/>
          <a:ext cx="4297708" cy="3039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86CF501-686A-436A-B70E-871FC91A8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317412"/>
              </p:ext>
            </p:extLst>
          </p:nvPr>
        </p:nvGraphicFramePr>
        <p:xfrm>
          <a:off x="4692900" y="3416078"/>
          <a:ext cx="4297708" cy="304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D546CF5-0D6F-4D39-EA6C-54839C964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953613"/>
              </p:ext>
            </p:extLst>
          </p:nvPr>
        </p:nvGraphicFramePr>
        <p:xfrm>
          <a:off x="9112619" y="3942958"/>
          <a:ext cx="2841611" cy="2417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  <p:extLst>
      <p:ext uri="{BB962C8B-B14F-4D97-AF65-F5344CB8AC3E}">
        <p14:creationId xmlns:p14="http://schemas.microsoft.com/office/powerpoint/2010/main" val="362533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9741748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28755</TotalTime>
  <Words>225</Words>
  <Application>Microsoft Office PowerPoint</Application>
  <PresentationFormat>Widescreen</PresentationFormat>
  <Paragraphs>46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Black</vt:lpstr>
      <vt:lpstr>Aptos Display</vt:lpstr>
      <vt:lpstr>Arial</vt:lpstr>
      <vt:lpstr>Lato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1104</cp:revision>
  <dcterms:created xsi:type="dcterms:W3CDTF">2025-05-09T11:21:43Z</dcterms:created>
  <dcterms:modified xsi:type="dcterms:W3CDTF">2025-10-09T15:14:59Z</dcterms:modified>
</cp:coreProperties>
</file>